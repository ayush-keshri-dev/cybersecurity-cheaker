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16" y="-8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138160" y="-914400"/>
            <a:ext cx="5669280" cy="5669280"/>
          </a:xfrm>
          <a:prstGeom prst="ellipse">
            <a:avLst/>
          </a:prstGeom>
          <a:solidFill>
            <a:srgbClr val="11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188720" y="4206240"/>
            <a:ext cx="4572000" cy="4572000"/>
          </a:xfrm>
          <a:prstGeom prst="ellipse">
            <a:avLst/>
          </a:prstGeom>
          <a:solidFill>
            <a:srgbClr val="0E2A42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E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138928" y="566928"/>
            <a:ext cx="1920240" cy="1920240"/>
          </a:xfrm>
          <a:prstGeom prst="ellipse">
            <a:avLst/>
          </a:prstGeom>
          <a:solidFill>
            <a:srgbClr val="12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38928" y="713232"/>
            <a:ext cx="1920240" cy="1645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6200" b="0" i="0">
                <a:solidFill>
                  <a:srgbClr val="FFFFFF"/>
                </a:solidFill>
                <a:latin typeface="Segoe UI"/>
              </a:rPr>
              <a:t>🛡️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87168"/>
            <a:ext cx="1051560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Segoe UI"/>
              </a:rPr>
              <a:t>AI-Powered Cybersecurity</a:t>
            </a:r>
            <a:r>
              <a:rPr sz="3600" b="1" i="0">
                <a:solidFill>
                  <a:srgbClr val="2DE1C2"/>
                </a:solidFill>
                <a:latin typeface="Segoe UI"/>
              </a:rPr>
              <a:t> Awareness Assistant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56048" y="3255264"/>
            <a:ext cx="2286000" cy="41148"/>
          </a:xfrm>
          <a:prstGeom prst="rect">
            <a:avLst/>
          </a:prstGeom>
          <a:solidFill>
            <a:srgbClr val="2DE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3456432"/>
            <a:ext cx="9418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9BB1C9"/>
                </a:solidFill>
                <a:latin typeface="Segoe UI"/>
              </a:rPr>
              <a:t>“Learn to spot the scam — before the scam spots you.”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0071" y="4069080"/>
            <a:ext cx="2395728" cy="713232"/>
          </a:xfrm>
          <a:prstGeom prst="roundRect">
            <a:avLst>
              <a:gd name="adj" fmla="val 8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0071" y="4069080"/>
            <a:ext cx="45720" cy="713232"/>
          </a:xfrm>
          <a:prstGeom prst="rect">
            <a:avLst/>
          </a:prstGeom>
          <a:solidFill>
            <a:srgbClr val="2DE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94663" y="4160520"/>
            <a:ext cx="2121408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2DE1C2"/>
                </a:solidFill>
                <a:latin typeface="Segoe UI"/>
              </a:rPr>
              <a:t>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4663" y="4352544"/>
            <a:ext cx="2121408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ShieldAI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8679" y="4069080"/>
            <a:ext cx="2395728" cy="713232"/>
          </a:xfrm>
          <a:prstGeom prst="roundRect">
            <a:avLst>
              <a:gd name="adj" fmla="val 8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08679" y="4069080"/>
            <a:ext cx="45720" cy="713232"/>
          </a:xfrm>
          <a:prstGeom prst="rect">
            <a:avLst/>
          </a:prstGeom>
          <a:solidFill>
            <a:srgbClr val="2DE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73271" y="4160520"/>
            <a:ext cx="2121408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2DE1C2"/>
                </a:solidFill>
                <a:latin typeface="Segoe UI"/>
              </a:rPr>
              <a:t>COLLEGE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3271" y="4352544"/>
            <a:ext cx="2121408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Vivekananda Global University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7287" y="4069080"/>
            <a:ext cx="2395728" cy="713232"/>
          </a:xfrm>
          <a:prstGeom prst="roundRect">
            <a:avLst>
              <a:gd name="adj" fmla="val 8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87287" y="4069080"/>
            <a:ext cx="45720" cy="713232"/>
          </a:xfrm>
          <a:prstGeom prst="rect">
            <a:avLst/>
          </a:prstGeom>
          <a:solidFill>
            <a:srgbClr val="2DE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1879" y="4160520"/>
            <a:ext cx="2121408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2DE1C2"/>
                </a:solidFill>
                <a:latin typeface="Segoe UI"/>
              </a:rPr>
              <a:t>HACKATHON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1879" y="4352544"/>
            <a:ext cx="2121408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SkillUp × IBM SkillsBuild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65895" y="4069080"/>
            <a:ext cx="2395728" cy="713232"/>
          </a:xfrm>
          <a:prstGeom prst="roundRect">
            <a:avLst>
              <a:gd name="adj" fmla="val 8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765895" y="4069080"/>
            <a:ext cx="45720" cy="713232"/>
          </a:xfrm>
          <a:prstGeom prst="rect">
            <a:avLst/>
          </a:prstGeom>
          <a:solidFill>
            <a:srgbClr val="2DE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30487" y="4160520"/>
            <a:ext cx="2121408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2DE1C2"/>
                </a:solidFill>
                <a:latin typeface="Segoe UI"/>
              </a:rPr>
              <a:t>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0487" y="4352544"/>
            <a:ext cx="2121408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18 September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074920"/>
            <a:ext cx="1033272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BB1C9"/>
                </a:solidFill>
                <a:latin typeface="Segoe UI"/>
              </a:rPr>
              <a:t>Python  ·  Streamlit  ·  Google Gemini 2.0 Flash  ·  Built with IBM Bob  ·  59 automated tests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532120"/>
            <a:ext cx="103327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BB1C9"/>
                </a:solidFill>
                <a:latin typeface="Segoe UI"/>
              </a:rPr>
              <a:t>Presented by  </a:t>
            </a:r>
            <a:r>
              <a:rPr sz="1250" b="1" i="0">
                <a:solidFill>
                  <a:srgbClr val="FFFFFF"/>
                </a:solidFill>
                <a:latin typeface="Segoe UI"/>
              </a:rPr>
              <a:t>Ayush Prasad Keshri</a:t>
            </a:r>
            <a:r>
              <a:rPr sz="1250" b="0" i="0">
                <a:solidFill>
                  <a:srgbClr val="2DE1C2"/>
                </a:solidFill>
                <a:latin typeface="Segoe UI"/>
              </a:rPr>
              <a:t>   •   </a:t>
            </a:r>
            <a:r>
              <a:rPr sz="1250" b="1" i="0">
                <a:solidFill>
                  <a:srgbClr val="FFFFFF"/>
                </a:solidFill>
                <a:latin typeface="Segoe UI"/>
              </a:rPr>
              <a:t>Priyanshu Kumar Sah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8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658368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GitHub: github.com/Ayush-keshri-dev/cybersecurity-cheaker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018520" y="310896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2DE1C2"/>
                </a:solidFill>
                <a:latin typeface="Segoe U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241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DE1C2"/>
                </a:solidFill>
                <a:latin typeface="Segoe U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Why Cybersecurity Awareness Is a Real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371600" cy="45720"/>
          </a:xfrm>
          <a:prstGeom prst="rect">
            <a:avLst/>
          </a:prstGeom>
          <a:solidFill>
            <a:srgbClr val="2DE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6382512"/>
            <a:ext cx="11091672" cy="10972"/>
          </a:xfrm>
          <a:prstGeom prst="rect">
            <a:avLst/>
          </a:prstGeom>
          <a:solidFill>
            <a:srgbClr val="254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BB1C9"/>
                </a:solidFill>
                <a:latin typeface="Segoe UI"/>
              </a:rPr>
              <a:t>ShieldAI  ·  AI-Powered Cybersecurity Awareness Assistant  ·  SkillUp Hackathon × IBM SkillsBuild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95044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1399032"/>
            <a:ext cx="5779007" cy="4754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6B6B"/>
                </a:solidFill>
                <a:latin typeface="Segoe UI"/>
              </a:rPr>
              <a:t>Millions fall for it daily —  </a:t>
            </a:r>
            <a:r>
              <a:rPr sz="1250" b="0" i="0">
                <a:solidFill>
                  <a:srgbClr val="FFFFFF"/>
                </a:solidFill>
                <a:latin typeface="Segoe UI"/>
              </a:rPr>
              <a:t>phishing emails, SMS scams, OTP fraud, account breaches.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70532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1874520"/>
            <a:ext cx="5779007" cy="4754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6B6B"/>
                </a:solidFill>
                <a:latin typeface="Segoe UI"/>
              </a:rPr>
              <a:t>It is not carelessness —  </a:t>
            </a:r>
            <a:r>
              <a:rPr sz="1250" b="0" i="0">
                <a:solidFill>
                  <a:srgbClr val="FFFFFF"/>
                </a:solidFill>
                <a:latin typeface="Segoe UI"/>
              </a:rPr>
              <a:t>most people were never taught what a scam looks like.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46020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" y="2350008"/>
            <a:ext cx="5779007" cy="4754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6B6B"/>
                </a:solidFill>
                <a:latin typeface="Segoe UI"/>
              </a:rPr>
              <a:t>Security advice is written for experts —  </a:t>
            </a:r>
            <a:r>
              <a:rPr sz="1250" b="0" i="0">
                <a:solidFill>
                  <a:srgbClr val="FFFFFF"/>
                </a:solidFill>
                <a:latin typeface="Segoe UI"/>
              </a:rPr>
              <a:t>long documents full of jargon.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921508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2825496"/>
            <a:ext cx="5779007" cy="4754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6B6B"/>
                </a:solidFill>
                <a:latin typeface="Segoe UI"/>
              </a:rPr>
              <a:t>Beginners cannot tell  </a:t>
            </a:r>
            <a:r>
              <a:rPr sz="1250" b="0" i="0">
                <a:solidFill>
                  <a:srgbClr val="FFFFFF"/>
                </a:solidFill>
                <a:latin typeface="Segoe UI"/>
              </a:rPr>
              <a:t>a real bank alert from a fake 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396996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3300984"/>
            <a:ext cx="5779007" cy="4754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6B6B"/>
                </a:solidFill>
                <a:latin typeface="Segoe UI"/>
              </a:rPr>
              <a:t>Weak and reused passwords  </a:t>
            </a:r>
            <a:r>
              <a:rPr sz="1250" b="0" i="0">
                <a:solidFill>
                  <a:srgbClr val="FFFFFF"/>
                </a:solidFill>
                <a:latin typeface="Segoe UI"/>
              </a:rPr>
              <a:t>are still the easiest way into an account.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872484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3776472"/>
            <a:ext cx="5779007" cy="4754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6B6B"/>
                </a:solidFill>
                <a:latin typeface="Segoe UI"/>
              </a:rPr>
              <a:t>Asking for help feels embarrassing,  </a:t>
            </a:r>
            <a:r>
              <a:rPr sz="1250" b="0" i="0">
                <a:solidFill>
                  <a:srgbClr val="FFFFFF"/>
                </a:solidFill>
                <a:latin typeface="Segoe UI"/>
              </a:rPr>
              <a:t>so people guess — and click.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347972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2" y="4251960"/>
            <a:ext cx="5779007" cy="4754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6B6B"/>
                </a:solidFill>
                <a:latin typeface="Segoe UI"/>
              </a:rPr>
              <a:t>Result:  </a:t>
            </a:r>
            <a:r>
              <a:rPr sz="1250" b="0" i="0">
                <a:solidFill>
                  <a:srgbClr val="FFFFFF"/>
                </a:solidFill>
                <a:latin typeface="Segoe UI"/>
              </a:rPr>
              <a:t>fear, confusion, and avoidable financial loss.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3720" y="1481328"/>
            <a:ext cx="4617720" cy="1115568"/>
          </a:xfrm>
          <a:prstGeom prst="roundRect">
            <a:avLst>
              <a:gd name="adj" fmla="val 7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903720" y="1481328"/>
            <a:ext cx="45720" cy="1115568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14032" y="1627632"/>
            <a:ext cx="18288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6B6B"/>
                </a:solidFill>
                <a:latin typeface="Segoe UI"/>
              </a:rPr>
              <a:t>4.1 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1792224"/>
            <a:ext cx="260604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BB1C9"/>
                </a:solidFill>
                <a:latin typeface="Segoe UI"/>
              </a:rPr>
              <a:t>people affected by data breaches in recent years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03720" y="2779776"/>
            <a:ext cx="4617720" cy="1115568"/>
          </a:xfrm>
          <a:prstGeom prst="roundRect">
            <a:avLst>
              <a:gd name="adj" fmla="val 7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903720" y="2779776"/>
            <a:ext cx="45720" cy="1115568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14032" y="2926080"/>
            <a:ext cx="18288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B020"/>
                </a:solidFill>
                <a:latin typeface="Segoe UI"/>
              </a:rPr>
              <a:t>#1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3090672"/>
            <a:ext cx="260604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BB1C9"/>
                </a:solidFill>
                <a:latin typeface="Segoe UI"/>
              </a:rPr>
              <a:t>attack vector is still the human, not the code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03720" y="4078224"/>
            <a:ext cx="4617720" cy="1115568"/>
          </a:xfrm>
          <a:prstGeom prst="roundRect">
            <a:avLst>
              <a:gd name="adj" fmla="val 7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903720" y="4078224"/>
            <a:ext cx="45720" cy="1115568"/>
          </a:xfrm>
          <a:prstGeom prst="rect">
            <a:avLst/>
          </a:prstGeom>
          <a:solidFill>
            <a:srgbClr val="2DE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14032" y="4224528"/>
            <a:ext cx="18288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2DE1C2"/>
                </a:solidFill>
                <a:latin typeface="Segoe UI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20" y="4389120"/>
            <a:ext cx="260604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BB1C9"/>
                </a:solidFill>
                <a:latin typeface="Segoe UI"/>
              </a:rPr>
              <a:t>judgement-free tools most beginners actually open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074920"/>
            <a:ext cx="11091672" cy="868680"/>
          </a:xfrm>
          <a:prstGeom prst="roundRect">
            <a:avLst>
              <a:gd name="adj" fmla="val 6000"/>
            </a:avLst>
          </a:prstGeom>
          <a:solidFill>
            <a:srgbClr val="2A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48640" y="5074920"/>
            <a:ext cx="50292" cy="86868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7240" y="5193792"/>
            <a:ext cx="1078992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6B6B"/>
                </a:solidFill>
                <a:latin typeface="Segoe UI"/>
              </a:rPr>
              <a:t>The gap we target:  </a:t>
            </a:r>
            <a:r>
              <a:rPr sz="1250" b="0" i="0">
                <a:solidFill>
                  <a:srgbClr val="FFFFFF"/>
                </a:solidFill>
                <a:latin typeface="Segoe UI"/>
              </a:rPr>
              <a:t>There is no simple, friendly, instant place for a beginner to ask “is this message safe?” or “is my password good enough?” — so we built 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018520" y="310896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2DE1C2"/>
                </a:solidFill>
                <a:latin typeface="Segoe U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241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DE1C2"/>
                </a:solidFill>
                <a:latin typeface="Segoe UI"/>
              </a:rPr>
              <a:t>SOLUTION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One App, Three Tabs, Zero Jargon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371600" cy="45720"/>
          </a:xfrm>
          <a:prstGeom prst="rect">
            <a:avLst/>
          </a:prstGeom>
          <a:solidFill>
            <a:srgbClr val="2DE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6382512"/>
            <a:ext cx="11091672" cy="10972"/>
          </a:xfrm>
          <a:prstGeom prst="rect">
            <a:avLst/>
          </a:prstGeom>
          <a:solidFill>
            <a:srgbClr val="254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BB1C9"/>
                </a:solidFill>
                <a:latin typeface="Segoe UI"/>
              </a:rPr>
              <a:t>ShieldAI  ·  AI-Powered Cybersecurity Awareness Assistant  ·  SkillUp Hackathon × IBM SkillsBuild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BB1C9"/>
                </a:solidFill>
                <a:latin typeface="Segoe UI"/>
              </a:rPr>
              <a:t>A beginner-friendly web app that turns “I’m not sure…” into “I know what to do.”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3547872" cy="2286000"/>
          </a:xfrm>
          <a:prstGeom prst="roundRect">
            <a:avLst>
              <a:gd name="adj" fmla="val 6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3547872" cy="45720"/>
          </a:xfrm>
          <a:prstGeom prst="rect">
            <a:avLst/>
          </a:prstGeom>
          <a:solidFill>
            <a:srgbClr val="2DE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975104"/>
            <a:ext cx="3090672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🔍  Is This Safe?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2551176"/>
            <a:ext cx="82296" cy="82296"/>
          </a:xfrm>
          <a:prstGeom prst="ellipse">
            <a:avLst/>
          </a:prstGeom>
          <a:solidFill>
            <a:srgbClr val="2DE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7552" y="2468880"/>
            <a:ext cx="2907791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DE1C2"/>
                </a:solidFill>
                <a:latin typeface="Segoe UI"/>
              </a:rPr>
              <a:t>Paste </a:t>
            </a:r>
            <a:r>
              <a:rPr sz="1100" b="0" i="0">
                <a:solidFill>
                  <a:srgbClr val="9BB1C9"/>
                </a:solidFill>
                <a:latin typeface="Segoe UI"/>
              </a:rPr>
              <a:t>any email, SMS or DM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3026664"/>
            <a:ext cx="82296" cy="82296"/>
          </a:xfrm>
          <a:prstGeom prst="ellipse">
            <a:avLst/>
          </a:prstGeom>
          <a:solidFill>
            <a:srgbClr val="2DE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" y="2944368"/>
            <a:ext cx="2907791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DE1C2"/>
                </a:solidFill>
                <a:latin typeface="Segoe UI"/>
              </a:rPr>
              <a:t>Get </a:t>
            </a:r>
            <a:r>
              <a:rPr sz="1100" b="0" i="0">
                <a:solidFill>
                  <a:srgbClr val="9BB1C9"/>
                </a:solidFill>
                <a:latin typeface="Segoe UI"/>
              </a:rPr>
              <a:t>Likely Safe / Caution / Suspicious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502152"/>
            <a:ext cx="82296" cy="82296"/>
          </a:xfrm>
          <a:prstGeom prst="ellipse">
            <a:avLst/>
          </a:prstGeom>
          <a:solidFill>
            <a:srgbClr val="2DE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7552" y="3419856"/>
            <a:ext cx="2907791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DE1C2"/>
                </a:solidFill>
                <a:latin typeface="Segoe UI"/>
              </a:rPr>
              <a:t>Plus </a:t>
            </a:r>
            <a:r>
              <a:rPr sz="1100" b="0" i="0">
                <a:solidFill>
                  <a:srgbClr val="9BB1C9"/>
                </a:solidFill>
                <a:latin typeface="Segoe UI"/>
              </a:rPr>
              <a:t>warning signs and next steps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0248" y="1783080"/>
            <a:ext cx="3547872" cy="2286000"/>
          </a:xfrm>
          <a:prstGeom prst="roundRect">
            <a:avLst>
              <a:gd name="adj" fmla="val 6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70248" y="1783080"/>
            <a:ext cx="3547872" cy="4572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98848" y="1975104"/>
            <a:ext cx="3090672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🔑  Password Advisor</a:t>
            </a:r>
          </a:p>
        </p:txBody>
      </p:sp>
      <p:sp>
        <p:nvSpPr>
          <p:cNvPr id="22" name="Oval 21"/>
          <p:cNvSpPr/>
          <p:nvPr/>
        </p:nvSpPr>
        <p:spPr>
          <a:xfrm>
            <a:off x="4498848" y="2551176"/>
            <a:ext cx="82296" cy="82296"/>
          </a:xfrm>
          <a:prstGeom prst="ellipse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09160" y="2468880"/>
            <a:ext cx="2907791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3DDC97"/>
                </a:solidFill>
                <a:latin typeface="Segoe UI"/>
              </a:rPr>
              <a:t>Type </a:t>
            </a:r>
            <a:r>
              <a:rPr sz="1100" b="0" i="0">
                <a:solidFill>
                  <a:srgbClr val="9BB1C9"/>
                </a:solidFill>
                <a:latin typeface="Segoe UI"/>
              </a:rPr>
              <a:t>a password, see Weak/Moderate/Strong</a:t>
            </a:r>
          </a:p>
        </p:txBody>
      </p:sp>
      <p:sp>
        <p:nvSpPr>
          <p:cNvPr id="24" name="Oval 23"/>
          <p:cNvSpPr/>
          <p:nvPr/>
        </p:nvSpPr>
        <p:spPr>
          <a:xfrm>
            <a:off x="4498848" y="3026664"/>
            <a:ext cx="82296" cy="82296"/>
          </a:xfrm>
          <a:prstGeom prst="ellipse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09160" y="2944368"/>
            <a:ext cx="2907791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3DDC97"/>
                </a:solidFill>
                <a:latin typeface="Segoe UI"/>
              </a:rPr>
              <a:t>Get </a:t>
            </a:r>
            <a:r>
              <a:rPr sz="1100" b="0" i="0">
                <a:solidFill>
                  <a:srgbClr val="9BB1C9"/>
                </a:solidFill>
                <a:latin typeface="Segoe UI"/>
              </a:rPr>
              <a:t>score, issues and fixes</a:t>
            </a:r>
          </a:p>
        </p:txBody>
      </p:sp>
      <p:sp>
        <p:nvSpPr>
          <p:cNvPr id="26" name="Oval 25"/>
          <p:cNvSpPr/>
          <p:nvPr/>
        </p:nvSpPr>
        <p:spPr>
          <a:xfrm>
            <a:off x="4498848" y="3502152"/>
            <a:ext cx="82296" cy="82296"/>
          </a:xfrm>
          <a:prstGeom prst="ellipse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09160" y="3419856"/>
            <a:ext cx="2907791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3DDC97"/>
                </a:solidFill>
                <a:latin typeface="Segoe UI"/>
              </a:rPr>
              <a:t>Runs </a:t>
            </a:r>
            <a:r>
              <a:rPr sz="1100" b="0" i="0">
                <a:solidFill>
                  <a:srgbClr val="9BB1C9"/>
                </a:solidFill>
                <a:latin typeface="Segoe UI"/>
              </a:rPr>
              <a:t>100% locally — never leaves your PC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91856" y="1783080"/>
            <a:ext cx="3547872" cy="2286000"/>
          </a:xfrm>
          <a:prstGeom prst="roundRect">
            <a:avLst>
              <a:gd name="adj" fmla="val 6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991856" y="1783080"/>
            <a:ext cx="3547872" cy="45720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0456" y="1975104"/>
            <a:ext cx="3090672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💬  Cyber Chatbot</a:t>
            </a:r>
          </a:p>
        </p:txBody>
      </p:sp>
      <p:sp>
        <p:nvSpPr>
          <p:cNvPr id="31" name="Oval 30"/>
          <p:cNvSpPr/>
          <p:nvPr/>
        </p:nvSpPr>
        <p:spPr>
          <a:xfrm>
            <a:off x="8220456" y="2551176"/>
            <a:ext cx="82296" cy="82296"/>
          </a:xfrm>
          <a:prstGeom prst="ellipse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30768" y="2468880"/>
            <a:ext cx="2907791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4DA3FF"/>
                </a:solidFill>
                <a:latin typeface="Segoe UI"/>
              </a:rPr>
              <a:t>Ask </a:t>
            </a:r>
            <a:r>
              <a:rPr sz="1100" b="0" i="0">
                <a:solidFill>
                  <a:srgbClr val="9BB1C9"/>
                </a:solidFill>
                <a:latin typeface="Segoe UI"/>
              </a:rPr>
              <a:t>any beginner security question</a:t>
            </a:r>
          </a:p>
        </p:txBody>
      </p:sp>
      <p:sp>
        <p:nvSpPr>
          <p:cNvPr id="33" name="Oval 32"/>
          <p:cNvSpPr/>
          <p:nvPr/>
        </p:nvSpPr>
        <p:spPr>
          <a:xfrm>
            <a:off x="8220456" y="3026664"/>
            <a:ext cx="82296" cy="82296"/>
          </a:xfrm>
          <a:prstGeom prst="ellipse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30768" y="2944368"/>
            <a:ext cx="2907791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4DA3FF"/>
                </a:solidFill>
                <a:latin typeface="Segoe UI"/>
              </a:rPr>
              <a:t>Get </a:t>
            </a:r>
            <a:r>
              <a:rPr sz="1100" b="0" i="0">
                <a:solidFill>
                  <a:srgbClr val="9BB1C9"/>
                </a:solidFill>
                <a:latin typeface="Segoe UI"/>
              </a:rPr>
              <a:t>simple answers with examples</a:t>
            </a:r>
          </a:p>
        </p:txBody>
      </p:sp>
      <p:sp>
        <p:nvSpPr>
          <p:cNvPr id="35" name="Oval 34"/>
          <p:cNvSpPr/>
          <p:nvPr/>
        </p:nvSpPr>
        <p:spPr>
          <a:xfrm>
            <a:off x="8220456" y="3502152"/>
            <a:ext cx="82296" cy="82296"/>
          </a:xfrm>
          <a:prstGeom prst="ellipse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30768" y="3419856"/>
            <a:ext cx="2907791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4DA3FF"/>
                </a:solidFill>
                <a:latin typeface="Segoe UI"/>
              </a:rPr>
              <a:t>Guarded </a:t>
            </a:r>
            <a:r>
              <a:rPr sz="1100" b="0" i="0">
                <a:solidFill>
                  <a:srgbClr val="9BB1C9"/>
                </a:solidFill>
                <a:latin typeface="Segoe UI"/>
              </a:rPr>
              <a:t>against harmful requests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315968"/>
            <a:ext cx="5394960" cy="1783080"/>
          </a:xfrm>
          <a:prstGeom prst="roundRect">
            <a:avLst>
              <a:gd name="adj" fmla="val 6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48640" y="4315968"/>
            <a:ext cx="45720" cy="178308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7240" y="4462272"/>
            <a:ext cx="49377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How a student uses it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4942332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33271" y="4846320"/>
            <a:ext cx="4681728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Segoe UI"/>
              </a:rPr>
              <a:t>Open the app in a browser — no install, no sign-up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" y="5308092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33271" y="5212080"/>
            <a:ext cx="4681728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Segoe UI"/>
              </a:rPr>
              <a:t>Paste the message / type the password / ask the question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" y="5673852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33271" y="5577840"/>
            <a:ext cx="4681728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Segoe UI"/>
              </a:rPr>
              <a:t>Read the plain-English verdict and act on the tips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45352" y="4315968"/>
            <a:ext cx="5394960" cy="1783080"/>
          </a:xfrm>
          <a:prstGeom prst="roundRect">
            <a:avLst>
              <a:gd name="adj" fmla="val 6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245352" y="4315968"/>
            <a:ext cx="45720" cy="1783080"/>
          </a:xfrm>
          <a:prstGeom prst="rect">
            <a:avLst/>
          </a:prstGeom>
          <a:solidFill>
            <a:srgbClr val="2DE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73952" y="4462272"/>
            <a:ext cx="49377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Design promises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73952" y="4942332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2DE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729984" y="4846320"/>
            <a:ext cx="4681728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Segoe UI"/>
              </a:rPr>
              <a:t>Educational only — never claims to be a guarantee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73952" y="5308092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2DE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729984" y="5212080"/>
            <a:ext cx="4681728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Segoe UI"/>
              </a:rPr>
              <a:t>Always tells you to verify via the official channel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73952" y="5673852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2DE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729984" y="5577840"/>
            <a:ext cx="4681728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Segoe UI"/>
              </a:rPr>
              <a:t>Runs locally with one command:  streamlit run app.py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018520" y="310896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2DE1C2"/>
                </a:solidFill>
                <a:latin typeface="Segoe U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241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DE1C2"/>
                </a:solidFill>
                <a:latin typeface="Segoe UI"/>
              </a:rPr>
              <a:t>WHAT IT IS BUILT WITH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371600" cy="45720"/>
          </a:xfrm>
          <a:prstGeom prst="rect">
            <a:avLst/>
          </a:prstGeom>
          <a:solidFill>
            <a:srgbClr val="2DE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6382512"/>
            <a:ext cx="11091672" cy="10972"/>
          </a:xfrm>
          <a:prstGeom prst="rect">
            <a:avLst/>
          </a:prstGeom>
          <a:solidFill>
            <a:srgbClr val="254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BB1C9"/>
                </a:solidFill>
                <a:latin typeface="Segoe UI"/>
              </a:rPr>
              <a:t>ShieldAI  ·  AI-Powered Cybersecurity Awareness Assistant  ·  SkillUp Hackathon × IBM SkillsBuild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3547872" cy="2084831"/>
          </a:xfrm>
          <a:prstGeom prst="roundRect">
            <a:avLst>
              <a:gd name="adj" fmla="val 6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371600"/>
            <a:ext cx="45720" cy="2084831"/>
          </a:xfrm>
          <a:prstGeom prst="rect">
            <a:avLst/>
          </a:prstGeom>
          <a:solidFill>
            <a:srgbClr val="2DE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9808" y="153619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F2138"/>
          </a:solidFill>
          <a:ln w="12700">
            <a:solidFill>
              <a:srgbClr val="2DE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1517904"/>
            <a:ext cx="3182112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Python 3.10+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810512"/>
            <a:ext cx="3182112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2DE1C2"/>
                </a:solidFill>
                <a:latin typeface="Segoe UI"/>
              </a:rPr>
              <a:t>Core language</a:t>
            </a:r>
          </a:p>
        </p:txBody>
      </p:sp>
      <p:sp>
        <p:nvSpPr>
          <p:cNvPr id="14" name="Oval 13"/>
          <p:cNvSpPr/>
          <p:nvPr/>
        </p:nvSpPr>
        <p:spPr>
          <a:xfrm>
            <a:off x="768096" y="2212848"/>
            <a:ext cx="73152" cy="73152"/>
          </a:xfrm>
          <a:prstGeom prst="ellipse">
            <a:avLst/>
          </a:prstGeom>
          <a:solidFill>
            <a:srgbClr val="2DE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50976" y="2130552"/>
            <a:ext cx="2953512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BB1C9"/>
                </a:solidFill>
                <a:latin typeface="Segoe UI"/>
              </a:rPr>
              <a:t>OOP classes, dataclasses, full type hints</a:t>
            </a:r>
          </a:p>
        </p:txBody>
      </p:sp>
      <p:sp>
        <p:nvSpPr>
          <p:cNvPr id="16" name="Oval 15"/>
          <p:cNvSpPr/>
          <p:nvPr/>
        </p:nvSpPr>
        <p:spPr>
          <a:xfrm>
            <a:off x="768096" y="2761488"/>
            <a:ext cx="73152" cy="73152"/>
          </a:xfrm>
          <a:prstGeom prst="ellipse">
            <a:avLst/>
          </a:prstGeom>
          <a:solidFill>
            <a:srgbClr val="2DE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0976" y="2679192"/>
            <a:ext cx="2953512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BB1C9"/>
                </a:solidFill>
                <a:latin typeface="Segoe UI"/>
              </a:rPr>
              <a:t>Custom exceptions: InvalidInputError, AIServiceError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70248" y="1371600"/>
            <a:ext cx="3547872" cy="2084831"/>
          </a:xfrm>
          <a:prstGeom prst="roundRect">
            <a:avLst>
              <a:gd name="adj" fmla="val 6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70248" y="1371600"/>
            <a:ext cx="45720" cy="2084831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471416" y="153619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F2138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71416" y="1517904"/>
            <a:ext cx="3182112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Streamlit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1416" y="1810512"/>
            <a:ext cx="3182112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6B6B"/>
                </a:solidFill>
                <a:latin typeface="Segoe UI"/>
              </a:rPr>
              <a:t>Entire user interface</a:t>
            </a:r>
          </a:p>
        </p:txBody>
      </p:sp>
      <p:sp>
        <p:nvSpPr>
          <p:cNvPr id="23" name="Oval 22"/>
          <p:cNvSpPr/>
          <p:nvPr/>
        </p:nvSpPr>
        <p:spPr>
          <a:xfrm>
            <a:off x="4489704" y="2212848"/>
            <a:ext cx="73152" cy="73152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72584" y="2130552"/>
            <a:ext cx="2953512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BB1C9"/>
                </a:solidFill>
                <a:latin typeface="Segoe UI"/>
              </a:rPr>
              <a:t>3 tabs, text areas, chat bubbles, progress bars</a:t>
            </a:r>
          </a:p>
        </p:txBody>
      </p:sp>
      <p:sp>
        <p:nvSpPr>
          <p:cNvPr id="25" name="Oval 24"/>
          <p:cNvSpPr/>
          <p:nvPr/>
        </p:nvSpPr>
        <p:spPr>
          <a:xfrm>
            <a:off x="4489704" y="2761488"/>
            <a:ext cx="73152" cy="73152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72584" y="2679192"/>
            <a:ext cx="2953512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BB1C9"/>
                </a:solidFill>
                <a:latin typeface="Segoe UI"/>
              </a:rPr>
              <a:t>st.session_state keeps chat history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91856" y="1371600"/>
            <a:ext cx="3547872" cy="2084831"/>
          </a:xfrm>
          <a:prstGeom prst="roundRect">
            <a:avLst>
              <a:gd name="adj" fmla="val 6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991856" y="1371600"/>
            <a:ext cx="45720" cy="2084831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193024" y="1536192"/>
            <a:ext cx="91440" cy="91440"/>
          </a:xfrm>
          <a:prstGeom prst="roundRect">
            <a:avLst>
              <a:gd name="adj" fmla="val 50000"/>
            </a:avLst>
          </a:prstGeom>
          <a:solidFill>
            <a:srgbClr val="0F2138"/>
          </a:solidFill>
          <a:ln w="12700">
            <a:solidFill>
              <a:srgbClr val="4D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93024" y="1517904"/>
            <a:ext cx="3182112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Google Gemini 2.0 Flash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93024" y="1810512"/>
            <a:ext cx="3182112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4DA3FF"/>
                </a:solidFill>
                <a:latin typeface="Segoe UI"/>
              </a:rPr>
              <a:t>The AI brain</a:t>
            </a:r>
          </a:p>
        </p:txBody>
      </p:sp>
      <p:sp>
        <p:nvSpPr>
          <p:cNvPr id="32" name="Oval 31"/>
          <p:cNvSpPr/>
          <p:nvPr/>
        </p:nvSpPr>
        <p:spPr>
          <a:xfrm>
            <a:off x="8211312" y="2212848"/>
            <a:ext cx="73152" cy="73152"/>
          </a:xfrm>
          <a:prstGeom prst="ellipse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94192" y="2130552"/>
            <a:ext cx="2953512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BB1C9"/>
                </a:solidFill>
                <a:latin typeface="Segoe UI"/>
              </a:rPr>
              <a:t>google-genai SDK (current, not deprecated)</a:t>
            </a:r>
          </a:p>
        </p:txBody>
      </p:sp>
      <p:sp>
        <p:nvSpPr>
          <p:cNvPr id="34" name="Oval 33"/>
          <p:cNvSpPr/>
          <p:nvPr/>
        </p:nvSpPr>
        <p:spPr>
          <a:xfrm>
            <a:off x="8211312" y="2761488"/>
            <a:ext cx="73152" cy="73152"/>
          </a:xfrm>
          <a:prstGeom prst="ellipse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94192" y="2679192"/>
            <a:ext cx="2953512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BB1C9"/>
                </a:solidFill>
                <a:latin typeface="Segoe UI"/>
              </a:rPr>
              <a:t>System instruction sets safety rules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3675887"/>
            <a:ext cx="3547872" cy="2084831"/>
          </a:xfrm>
          <a:prstGeom prst="roundRect">
            <a:avLst>
              <a:gd name="adj" fmla="val 6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48640" y="3675887"/>
            <a:ext cx="45720" cy="2084831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749808" y="3840479"/>
            <a:ext cx="91440" cy="91440"/>
          </a:xfrm>
          <a:prstGeom prst="roundRect">
            <a:avLst>
              <a:gd name="adj" fmla="val 50000"/>
            </a:avLst>
          </a:prstGeom>
          <a:solidFill>
            <a:srgbClr val="0F2138"/>
          </a:solidFill>
          <a:ln w="12700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9808" y="3822191"/>
            <a:ext cx="3182112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python-dotenv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114800"/>
            <a:ext cx="3182112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3DDC97"/>
                </a:solidFill>
                <a:latin typeface="Segoe UI"/>
              </a:rPr>
              <a:t>Secrets management</a:t>
            </a:r>
          </a:p>
        </p:txBody>
      </p:sp>
      <p:sp>
        <p:nvSpPr>
          <p:cNvPr id="41" name="Oval 40"/>
          <p:cNvSpPr/>
          <p:nvPr/>
        </p:nvSpPr>
        <p:spPr>
          <a:xfrm>
            <a:off x="768096" y="4517136"/>
            <a:ext cx="73152" cy="73152"/>
          </a:xfrm>
          <a:prstGeom prst="ellipse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50976" y="4434840"/>
            <a:ext cx="2953512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BB1C9"/>
                </a:solidFill>
                <a:latin typeface="Segoe UI"/>
              </a:rPr>
              <a:t>API key lives in .env — never in code</a:t>
            </a:r>
          </a:p>
        </p:txBody>
      </p:sp>
      <p:sp>
        <p:nvSpPr>
          <p:cNvPr id="43" name="Oval 42"/>
          <p:cNvSpPr/>
          <p:nvPr/>
        </p:nvSpPr>
        <p:spPr>
          <a:xfrm>
            <a:off x="768096" y="5065775"/>
            <a:ext cx="73152" cy="73152"/>
          </a:xfrm>
          <a:prstGeom prst="ellipse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50976" y="4983479"/>
            <a:ext cx="2953512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BB1C9"/>
                </a:solidFill>
                <a:latin typeface="Segoe UI"/>
              </a:rPr>
              <a:t>Placeholder key detected and rejected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70248" y="3675887"/>
            <a:ext cx="3547872" cy="2084831"/>
          </a:xfrm>
          <a:prstGeom prst="roundRect">
            <a:avLst>
              <a:gd name="adj" fmla="val 6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270248" y="3675887"/>
            <a:ext cx="45720" cy="2084831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4471416" y="3840479"/>
            <a:ext cx="91440" cy="91440"/>
          </a:xfrm>
          <a:prstGeom prst="roundRect">
            <a:avLst>
              <a:gd name="adj" fmla="val 50000"/>
            </a:avLst>
          </a:prstGeom>
          <a:solidFill>
            <a:srgbClr val="0F2138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471416" y="3822191"/>
            <a:ext cx="3182112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pytest + pytest-mock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71416" y="4114800"/>
            <a:ext cx="3182112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B020"/>
                </a:solidFill>
                <a:latin typeface="Segoe UI"/>
              </a:rPr>
              <a:t>Quality gate</a:t>
            </a:r>
          </a:p>
        </p:txBody>
      </p:sp>
      <p:sp>
        <p:nvSpPr>
          <p:cNvPr id="50" name="Oval 49"/>
          <p:cNvSpPr/>
          <p:nvPr/>
        </p:nvSpPr>
        <p:spPr>
          <a:xfrm>
            <a:off x="4489704" y="4517136"/>
            <a:ext cx="73152" cy="73152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672584" y="4434840"/>
            <a:ext cx="2953512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BB1C9"/>
                </a:solidFill>
                <a:latin typeface="Segoe UI"/>
              </a:rPr>
              <a:t>59 tests, all passing</a:t>
            </a:r>
          </a:p>
        </p:txBody>
      </p:sp>
      <p:sp>
        <p:nvSpPr>
          <p:cNvPr id="52" name="Oval 51"/>
          <p:cNvSpPr/>
          <p:nvPr/>
        </p:nvSpPr>
        <p:spPr>
          <a:xfrm>
            <a:off x="4489704" y="5065775"/>
            <a:ext cx="73152" cy="73152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672584" y="4983479"/>
            <a:ext cx="2953512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BB1C9"/>
                </a:solidFill>
                <a:latin typeface="Segoe UI"/>
              </a:rPr>
              <a:t>MagicMock — no real API calls during tests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991856" y="3675887"/>
            <a:ext cx="3547872" cy="2084831"/>
          </a:xfrm>
          <a:prstGeom prst="roundRect">
            <a:avLst>
              <a:gd name="adj" fmla="val 6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7991856" y="3675887"/>
            <a:ext cx="45720" cy="2084831"/>
          </a:xfrm>
          <a:prstGeom prst="rect">
            <a:avLst/>
          </a:prstGeom>
          <a:solidFill>
            <a:srgbClr val="A9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193024" y="3840479"/>
            <a:ext cx="91440" cy="91440"/>
          </a:xfrm>
          <a:prstGeom prst="roundRect">
            <a:avLst>
              <a:gd name="adj" fmla="val 50000"/>
            </a:avLst>
          </a:prstGeom>
          <a:solidFill>
            <a:srgbClr val="0F2138"/>
          </a:solidFill>
          <a:ln w="12700">
            <a:solidFill>
              <a:srgbClr val="A9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193024" y="3822191"/>
            <a:ext cx="3182112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IBM Bob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93024" y="4114800"/>
            <a:ext cx="3182112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A97BFF"/>
                </a:solidFill>
                <a:latin typeface="Segoe UI"/>
              </a:rPr>
              <a:t>AI engineering assistant</a:t>
            </a:r>
          </a:p>
        </p:txBody>
      </p:sp>
      <p:sp>
        <p:nvSpPr>
          <p:cNvPr id="59" name="Oval 58"/>
          <p:cNvSpPr/>
          <p:nvPr/>
        </p:nvSpPr>
        <p:spPr>
          <a:xfrm>
            <a:off x="8211312" y="4517136"/>
            <a:ext cx="73152" cy="73152"/>
          </a:xfrm>
          <a:prstGeom prst="ellipse">
            <a:avLst/>
          </a:prstGeom>
          <a:solidFill>
            <a:srgbClr val="A9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394192" y="4434840"/>
            <a:ext cx="2953512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BB1C9"/>
                </a:solidFill>
                <a:latin typeface="Segoe UI"/>
              </a:rPr>
              <a:t>Planning, code generation, tests, debugging</a:t>
            </a:r>
          </a:p>
        </p:txBody>
      </p:sp>
      <p:sp>
        <p:nvSpPr>
          <p:cNvPr id="61" name="Oval 60"/>
          <p:cNvSpPr/>
          <p:nvPr/>
        </p:nvSpPr>
        <p:spPr>
          <a:xfrm>
            <a:off x="8211312" y="5065775"/>
            <a:ext cx="73152" cy="73152"/>
          </a:xfrm>
          <a:prstGeom prst="ellipse">
            <a:avLst/>
          </a:prstGeom>
          <a:solidFill>
            <a:srgbClr val="A9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394192" y="4983479"/>
            <a:ext cx="2953512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BB1C9"/>
                </a:solidFill>
                <a:latin typeface="Segoe UI"/>
              </a:rPr>
              <a:t>Every suggestion reviewed by a human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48640" y="5742432"/>
            <a:ext cx="11091672" cy="457200"/>
          </a:xfrm>
          <a:prstGeom prst="roundRect">
            <a:avLst>
              <a:gd name="adj" fmla="val 30000"/>
            </a:avLst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77240" y="5806440"/>
            <a:ext cx="107899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DE1C2"/>
                </a:solidFill>
                <a:latin typeface="Segoe UI"/>
              </a:rPr>
              <a:t>requirements.txt:  </a:t>
            </a:r>
            <a:r>
              <a:rPr sz="1050" b="0" i="0">
                <a:solidFill>
                  <a:srgbClr val="9BB1C9"/>
                </a:solidFill>
                <a:latin typeface="Consolas"/>
              </a:rPr>
              <a:t>streamlit ≥1.35   ·   google-genai ≥2.0   ·   python-dotenv ≥1.0   ·   pytest ≥8.0   ·   pytest-mock ≥3.14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018520" y="310896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A97BFF"/>
                </a:solidFill>
                <a:latin typeface="Segoe U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241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A97BFF"/>
                </a:solidFill>
                <a:latin typeface="Segoe UI"/>
              </a:rPr>
              <a:t>AI-ASSISTED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How IBM Bob Built This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371600" cy="45720"/>
          </a:xfrm>
          <a:prstGeom prst="rect">
            <a:avLst/>
          </a:prstGeom>
          <a:solidFill>
            <a:srgbClr val="A9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6382512"/>
            <a:ext cx="11091672" cy="10972"/>
          </a:xfrm>
          <a:prstGeom prst="rect">
            <a:avLst/>
          </a:prstGeom>
          <a:solidFill>
            <a:srgbClr val="254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BB1C9"/>
                </a:solidFill>
                <a:latin typeface="Segoe UI"/>
              </a:rPr>
              <a:t>ShieldAI  ·  AI-Powered Cybersecurity Awareness Assistant  ·  SkillUp Hackathon × IBM SkillsBuild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98448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BB1C9"/>
                </a:solidFill>
                <a:latin typeface="Segoe UI"/>
              </a:rPr>
              <a:t>IBM Bob — the AI-powered software engineering assistant — acted as a pair programmer from the first line to the last test.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55648"/>
            <a:ext cx="2542032" cy="841248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 w="15240">
            <a:solidFill>
              <a:srgbClr val="A9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856231"/>
            <a:ext cx="2176272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A97BFF"/>
                </a:solidFill>
                <a:latin typeface="Segoe UI"/>
              </a:rPr>
              <a:t>1.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93976"/>
            <a:ext cx="2176272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Segoe UI"/>
              </a:rPr>
              <a:t>9-step implementation plan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145536" y="2048256"/>
            <a:ext cx="128016" cy="256032"/>
          </a:xfrm>
          <a:prstGeom prst="rightArrow">
            <a:avLst/>
          </a:prstGeom>
          <a:solidFill>
            <a:srgbClr val="A9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310127" y="1755648"/>
            <a:ext cx="2542032" cy="841248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 w="15240">
            <a:solidFill>
              <a:srgbClr val="A9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93008" y="1856231"/>
            <a:ext cx="2176272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A97BFF"/>
                </a:solidFill>
                <a:latin typeface="Segoe UI"/>
              </a:rPr>
              <a:t>2.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2093976"/>
            <a:ext cx="2176272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Segoe UI"/>
              </a:rPr>
              <a:t>Modular files, one job each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07023" y="2048256"/>
            <a:ext cx="128016" cy="256032"/>
          </a:xfrm>
          <a:prstGeom prst="rightArrow">
            <a:avLst/>
          </a:prstGeom>
          <a:solidFill>
            <a:srgbClr val="A9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071615" y="1755648"/>
            <a:ext cx="2542032" cy="841248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 w="15240">
            <a:solidFill>
              <a:srgbClr val="A9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54495" y="1856231"/>
            <a:ext cx="2176272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A97BFF"/>
                </a:solidFill>
                <a:latin typeface="Segoe UI"/>
              </a:rPr>
              <a:t>3.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5" y="2093976"/>
            <a:ext cx="2176272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Segoe UI"/>
              </a:rPr>
              <a:t>59 pytest tests generated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668511" y="2048256"/>
            <a:ext cx="128016" cy="256032"/>
          </a:xfrm>
          <a:prstGeom prst="rightArrow">
            <a:avLst/>
          </a:prstGeom>
          <a:solidFill>
            <a:srgbClr val="A9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833103" y="1755648"/>
            <a:ext cx="2542032" cy="841248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 w="15240">
            <a:solidFill>
              <a:srgbClr val="A9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15983" y="1856231"/>
            <a:ext cx="2176272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A97BFF"/>
                </a:solidFill>
                <a:latin typeface="Segoe UI"/>
              </a:rPr>
              <a:t>4.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5983" y="2093976"/>
            <a:ext cx="2176272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Segoe UI"/>
              </a:rPr>
              <a:t>Human edits every suggestion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2834640"/>
            <a:ext cx="5440680" cy="2057400"/>
          </a:xfrm>
          <a:prstGeom prst="roundRect">
            <a:avLst>
              <a:gd name="adj" fmla="val 6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2834640"/>
            <a:ext cx="50292" cy="2057400"/>
          </a:xfrm>
          <a:prstGeom prst="rect">
            <a:avLst/>
          </a:prstGeom>
          <a:solidFill>
            <a:srgbClr val="A9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8" y="2962656"/>
            <a:ext cx="50749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What Bob actually produced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3310128"/>
            <a:ext cx="5074920" cy="30175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1" i="0">
                <a:solidFill>
                  <a:srgbClr val="A97BFF"/>
                </a:solidFill>
                <a:latin typeface="Segoe UI"/>
              </a:rPr>
              <a:t>cybersecurity-assistant-plan.md —  </a:t>
            </a:r>
            <a:r>
              <a:rPr sz="1080" b="0" i="0">
                <a:solidFill>
                  <a:srgbClr val="9BB1C9"/>
                </a:solidFill>
                <a:latin typeface="Segoe UI"/>
              </a:rPr>
              <a:t>a 9-sub-task blueprint before any 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3611880"/>
            <a:ext cx="5074920" cy="30175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1" i="0">
                <a:solidFill>
                  <a:srgbClr val="A97BFF"/>
                </a:solidFill>
                <a:latin typeface="Segoe UI"/>
              </a:rPr>
              <a:t>Clean separation —  </a:t>
            </a:r>
            <a:r>
              <a:rPr sz="1080" b="0" i="0">
                <a:solidFill>
                  <a:srgbClr val="9BB1C9"/>
                </a:solidFill>
                <a:latin typeface="Segoe UI"/>
              </a:rPr>
              <a:t>data files vs logic files vs UI file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3913632"/>
            <a:ext cx="5074920" cy="30175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1" i="0">
                <a:solidFill>
                  <a:srgbClr val="A97BFF"/>
                </a:solidFill>
                <a:latin typeface="Segoe UI"/>
              </a:rPr>
              <a:t>Documentation —  </a:t>
            </a:r>
            <a:r>
              <a:rPr sz="1080" b="0" i="0">
                <a:solidFill>
                  <a:srgbClr val="9BB1C9"/>
                </a:solidFill>
                <a:latin typeface="Segoe UI"/>
              </a:rPr>
              <a:t>docstrings and type hints written as it coded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4215384"/>
            <a:ext cx="5074920" cy="30175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1" i="0">
                <a:solidFill>
                  <a:srgbClr val="A97BFF"/>
                </a:solidFill>
                <a:latin typeface="Segoe UI"/>
              </a:rPr>
              <a:t>Error handling —  </a:t>
            </a:r>
            <a:r>
              <a:rPr sz="1080" b="0" i="0">
                <a:solidFill>
                  <a:srgbClr val="9BB1C9"/>
                </a:solidFill>
                <a:latin typeface="Segoe UI"/>
              </a:rPr>
              <a:t>custom exceptions and graceful AI failures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4517136"/>
            <a:ext cx="5074920" cy="30175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1" i="0">
                <a:solidFill>
                  <a:srgbClr val="A97BFF"/>
                </a:solidFill>
                <a:latin typeface="Segoe UI"/>
              </a:rPr>
              <a:t>Test suite —  </a:t>
            </a:r>
            <a:r>
              <a:rPr sz="1080" b="0" i="0">
                <a:solidFill>
                  <a:srgbClr val="9BB1C9"/>
                </a:solidFill>
                <a:latin typeface="Segoe UI"/>
              </a:rPr>
              <a:t>tests/test_all.py with mocked AI calls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2" y="2834640"/>
            <a:ext cx="5440680" cy="2057400"/>
          </a:xfrm>
          <a:prstGeom prst="roundRect">
            <a:avLst>
              <a:gd name="adj" fmla="val 6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99632" y="2834640"/>
            <a:ext cx="50292" cy="2057400"/>
          </a:xfrm>
          <a:prstGeom prst="rect">
            <a:avLst/>
          </a:prstGeom>
          <a:solidFill>
            <a:srgbClr val="2DE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0" y="2962656"/>
            <a:ext cx="50749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Where the human stayed in control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310128"/>
            <a:ext cx="5074920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1" i="0">
                <a:solidFill>
                  <a:srgbClr val="2DE1C2"/>
                </a:solidFill>
                <a:latin typeface="Segoe UI"/>
              </a:rPr>
              <a:t>Fixed a real bug —  </a:t>
            </a:r>
            <a:r>
              <a:rPr sz="1080" b="0" i="0">
                <a:solidFill>
                  <a:srgbClr val="9BB1C9"/>
                </a:solidFill>
                <a:latin typeface="Segoe UI"/>
              </a:rPr>
              <a:t>swapped the deprecated Google SDK for google.genai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639312"/>
            <a:ext cx="5074920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1" i="0">
                <a:solidFill>
                  <a:srgbClr val="2DE1C2"/>
                </a:solidFill>
                <a:latin typeface="Segoe UI"/>
              </a:rPr>
              <a:t>Privacy design —  </a:t>
            </a:r>
            <a:r>
              <a:rPr sz="1080" b="0" i="0">
                <a:solidFill>
                  <a:srgbClr val="9BB1C9"/>
                </a:solidFill>
                <a:latin typeface="Segoe UI"/>
              </a:rPr>
              <a:t>kept password_advisor.py free of any AI import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968496"/>
            <a:ext cx="5074920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1" i="0">
                <a:solidFill>
                  <a:srgbClr val="2DE1C2"/>
                </a:solidFill>
                <a:latin typeface="Segoe UI"/>
              </a:rPr>
              <a:t>Reviewed everything —  </a:t>
            </a:r>
            <a:r>
              <a:rPr sz="1080" b="0" i="0">
                <a:solidFill>
                  <a:srgbClr val="9BB1C9"/>
                </a:solidFill>
                <a:latin typeface="Segoe UI"/>
              </a:rPr>
              <a:t>no suggestion merged without reading 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297680"/>
            <a:ext cx="5074920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1" i="0">
                <a:solidFill>
                  <a:srgbClr val="2DE1C2"/>
                </a:solidFill>
                <a:latin typeface="Segoe UI"/>
              </a:rPr>
              <a:t>Tested by running —  </a:t>
            </a:r>
            <a:r>
              <a:rPr sz="1080" b="0" i="0">
                <a:solidFill>
                  <a:srgbClr val="9BB1C9"/>
                </a:solidFill>
                <a:latin typeface="Segoe UI"/>
              </a:rPr>
              <a:t>streamlit run app.py, clicked every tab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4983480"/>
            <a:ext cx="11091672" cy="1143000"/>
          </a:xfrm>
          <a:prstGeom prst="roundRect">
            <a:avLst>
              <a:gd name="adj" fmla="val 6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48640" y="4937760"/>
            <a:ext cx="45720" cy="1143000"/>
          </a:xfrm>
          <a:prstGeom prst="rect">
            <a:avLst/>
          </a:prstGeom>
          <a:solidFill>
            <a:srgbClr val="A9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77240" y="5120640"/>
            <a:ext cx="107899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The 9 sub-tasks Bob planned and executed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5504688"/>
            <a:ext cx="1133856" cy="457200"/>
          </a:xfrm>
          <a:prstGeom prst="roundRect">
            <a:avLst>
              <a:gd name="adj" fmla="val 12000"/>
            </a:avLst>
          </a:prstGeom>
          <a:solidFill>
            <a:srgbClr val="0F2138"/>
          </a:solidFill>
          <a:ln w="11430">
            <a:solidFill>
              <a:srgbClr val="A9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Segoe UI"/>
              </a:rPr>
              <a:t>1 Scaffolding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029968" y="5504688"/>
            <a:ext cx="1133856" cy="457200"/>
          </a:xfrm>
          <a:prstGeom prst="roundRect">
            <a:avLst>
              <a:gd name="adj" fmla="val 12000"/>
            </a:avLst>
          </a:prstGeom>
          <a:solidFill>
            <a:srgbClr val="0F2138"/>
          </a:solidFill>
          <a:ln w="11430">
            <a:solidFill>
              <a:srgbClr val="A9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Segoe UI"/>
              </a:rPr>
              <a:t>2 AI client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82696" y="5504688"/>
            <a:ext cx="1133856" cy="457200"/>
          </a:xfrm>
          <a:prstGeom prst="roundRect">
            <a:avLst>
              <a:gd name="adj" fmla="val 12000"/>
            </a:avLst>
          </a:prstGeom>
          <a:solidFill>
            <a:srgbClr val="0F2138"/>
          </a:solidFill>
          <a:ln w="11430">
            <a:solidFill>
              <a:srgbClr val="A9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Segoe UI"/>
              </a:rPr>
              <a:t>3 Warning signs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35424" y="5504688"/>
            <a:ext cx="1133856" cy="457200"/>
          </a:xfrm>
          <a:prstGeom prst="roundRect">
            <a:avLst>
              <a:gd name="adj" fmla="val 12000"/>
            </a:avLst>
          </a:prstGeom>
          <a:solidFill>
            <a:srgbClr val="0F2138"/>
          </a:solidFill>
          <a:ln w="11430">
            <a:solidFill>
              <a:srgbClr val="A9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Segoe UI"/>
              </a:rPr>
              <a:t>4 Strength rules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788152" y="5504688"/>
            <a:ext cx="1133856" cy="457200"/>
          </a:xfrm>
          <a:prstGeom prst="roundRect">
            <a:avLst>
              <a:gd name="adj" fmla="val 12000"/>
            </a:avLst>
          </a:prstGeom>
          <a:solidFill>
            <a:srgbClr val="0F2138"/>
          </a:solidFill>
          <a:ln w="11430">
            <a:solidFill>
              <a:srgbClr val="A9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Segoe UI"/>
              </a:rPr>
              <a:t>5 Analyzer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040880" y="5504688"/>
            <a:ext cx="1133856" cy="457200"/>
          </a:xfrm>
          <a:prstGeom prst="roundRect">
            <a:avLst>
              <a:gd name="adj" fmla="val 12000"/>
            </a:avLst>
          </a:prstGeom>
          <a:solidFill>
            <a:srgbClr val="0F2138"/>
          </a:solidFill>
          <a:ln w="11430">
            <a:solidFill>
              <a:srgbClr val="A9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Segoe UI"/>
              </a:rPr>
              <a:t>6 Password advisor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93608" y="5504688"/>
            <a:ext cx="1133856" cy="457200"/>
          </a:xfrm>
          <a:prstGeom prst="roundRect">
            <a:avLst>
              <a:gd name="adj" fmla="val 12000"/>
            </a:avLst>
          </a:prstGeom>
          <a:solidFill>
            <a:srgbClr val="0F2138"/>
          </a:solidFill>
          <a:ln w="11430">
            <a:solidFill>
              <a:srgbClr val="A9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Segoe UI"/>
              </a:rPr>
              <a:t>7 Chatbot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546336" y="5504688"/>
            <a:ext cx="1133856" cy="457200"/>
          </a:xfrm>
          <a:prstGeom prst="roundRect">
            <a:avLst>
              <a:gd name="adj" fmla="val 12000"/>
            </a:avLst>
          </a:prstGeom>
          <a:solidFill>
            <a:srgbClr val="0F2138"/>
          </a:solidFill>
          <a:ln w="11430">
            <a:solidFill>
              <a:srgbClr val="A9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Segoe UI"/>
              </a:rPr>
              <a:t>8 Streamlit UI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799064" y="5504688"/>
            <a:ext cx="1133856" cy="457200"/>
          </a:xfrm>
          <a:prstGeom prst="roundRect">
            <a:avLst>
              <a:gd name="adj" fmla="val 12000"/>
            </a:avLst>
          </a:prstGeom>
          <a:solidFill>
            <a:srgbClr val="0F2138"/>
          </a:solidFill>
          <a:ln w="11430">
            <a:solidFill>
              <a:srgbClr val="A9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Segoe UI"/>
              </a:rPr>
              <a:t>9 README &amp; setup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018520" y="310896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2DE1C2"/>
                </a:solidFill>
                <a:latin typeface="Segoe U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241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DE1C2"/>
                </a:solidFill>
                <a:latin typeface="Segoe UI"/>
              </a:rPr>
              <a:t>MODULE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371600" cy="45720"/>
          </a:xfrm>
          <a:prstGeom prst="rect">
            <a:avLst/>
          </a:prstGeom>
          <a:solidFill>
            <a:srgbClr val="2DE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6382512"/>
            <a:ext cx="11091672" cy="10972"/>
          </a:xfrm>
          <a:prstGeom prst="rect">
            <a:avLst/>
          </a:prstGeom>
          <a:solidFill>
            <a:srgbClr val="254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BB1C9"/>
                </a:solidFill>
                <a:latin typeface="Segoe UI"/>
              </a:rPr>
              <a:t>ShieldAI  ·  AI-Powered Cybersecurity Awareness Assistant  ·  SkillUp Hackathon × IBM SkillsBuild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24528" y="1298448"/>
            <a:ext cx="3749039" cy="603504"/>
          </a:xfrm>
          <a:prstGeom prst="roundRect">
            <a:avLst>
              <a:gd name="adj" fmla="val 10000"/>
            </a:avLst>
          </a:prstGeom>
          <a:solidFill>
            <a:srgbClr val="FF6B6B"/>
          </a:solidFill>
          <a:ln w="1778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0A1626"/>
                </a:solidFill>
                <a:latin typeface="Segoe UI"/>
              </a:rPr>
              <a:t>app.py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0A1626"/>
                </a:solidFill>
                <a:latin typeface="Segoe UI"/>
              </a:rPr>
              <a:t>Streamlit UI · 3 tabs · session state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989320" y="1938528"/>
            <a:ext cx="201168" cy="310896"/>
          </a:xfrm>
          <a:prstGeom prst="downArrow">
            <a:avLst/>
          </a:prstGeom>
          <a:solidFill>
            <a:srgbClr val="9BB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48640" y="2304288"/>
            <a:ext cx="3383280" cy="658368"/>
          </a:xfrm>
          <a:prstGeom prst="roundRect">
            <a:avLst>
              <a:gd name="adj" fmla="val 10000"/>
            </a:avLst>
          </a:prstGeom>
          <a:solidFill>
            <a:srgbClr val="142C47"/>
          </a:solidFill>
          <a:ln w="17780">
            <a:solidFill>
              <a:srgbClr val="2DE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analyzer.py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Is This Safe? logic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2304288"/>
            <a:ext cx="3383280" cy="658368"/>
          </a:xfrm>
          <a:prstGeom prst="roundRect">
            <a:avLst>
              <a:gd name="adj" fmla="val 10000"/>
            </a:avLst>
          </a:prstGeom>
          <a:solidFill>
            <a:srgbClr val="142C47"/>
          </a:solidFill>
          <a:ln w="17780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password_advisor.py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Password scoring (offline)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66175" y="2304288"/>
            <a:ext cx="3383280" cy="658368"/>
          </a:xfrm>
          <a:prstGeom prst="roundRect">
            <a:avLst>
              <a:gd name="adj" fmla="val 10000"/>
            </a:avLst>
          </a:prstGeom>
          <a:solidFill>
            <a:srgbClr val="142C47"/>
          </a:solidFill>
          <a:ln w="17780">
            <a:solidFill>
              <a:srgbClr val="4D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chatbot.py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Chat + guardrail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103120" y="2999232"/>
            <a:ext cx="201168" cy="292608"/>
          </a:xfrm>
          <a:prstGeom prst="downArrow">
            <a:avLst/>
          </a:prstGeom>
          <a:solidFill>
            <a:srgbClr val="9BB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Down Arrow 14"/>
          <p:cNvSpPr/>
          <p:nvPr/>
        </p:nvSpPr>
        <p:spPr>
          <a:xfrm>
            <a:off x="5961888" y="2999232"/>
            <a:ext cx="201168" cy="292608"/>
          </a:xfrm>
          <a:prstGeom prst="downArrow">
            <a:avLst/>
          </a:prstGeom>
          <a:solidFill>
            <a:srgbClr val="9BB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Down Arrow 15"/>
          <p:cNvSpPr/>
          <p:nvPr/>
        </p:nvSpPr>
        <p:spPr>
          <a:xfrm>
            <a:off x="9820656" y="2999232"/>
            <a:ext cx="201168" cy="292608"/>
          </a:xfrm>
          <a:prstGeom prst="downArrow">
            <a:avLst/>
          </a:prstGeom>
          <a:solidFill>
            <a:srgbClr val="9BB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48640" y="3346704"/>
            <a:ext cx="3383280" cy="621792"/>
          </a:xfrm>
          <a:prstGeom prst="roundRect">
            <a:avLst>
              <a:gd name="adj" fmla="val 10000"/>
            </a:avLst>
          </a:prstGeom>
          <a:solidFill>
            <a:srgbClr val="142C47"/>
          </a:solidFill>
          <a:ln w="17780">
            <a:solidFill>
              <a:srgbClr val="2DE1C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warning_signs.py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8 scam categories · data only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7408" y="3346704"/>
            <a:ext cx="3383280" cy="621792"/>
          </a:xfrm>
          <a:prstGeom prst="roundRect">
            <a:avLst>
              <a:gd name="adj" fmla="val 10000"/>
            </a:avLst>
          </a:prstGeom>
          <a:solidFill>
            <a:srgbClr val="142C47"/>
          </a:solidFill>
          <a:ln w="17780">
            <a:solidFill>
              <a:srgbClr val="3DDC9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strength_rules.py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Weights + 83 common passwords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66175" y="3346704"/>
            <a:ext cx="3383280" cy="621792"/>
          </a:xfrm>
          <a:prstGeom prst="roundRect">
            <a:avLst>
              <a:gd name="adj" fmla="val 10000"/>
            </a:avLst>
          </a:prstGeom>
          <a:solidFill>
            <a:srgbClr val="142C47"/>
          </a:solidFill>
          <a:ln w="17780">
            <a:solidFill>
              <a:srgbClr val="4DA3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BLOCKED_TOPICS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35 harmful phrases · 17 safe topics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98648" y="4315968"/>
            <a:ext cx="6391656" cy="603504"/>
          </a:xfrm>
          <a:prstGeom prst="roundRect">
            <a:avLst>
              <a:gd name="adj" fmla="val 10000"/>
            </a:avLst>
          </a:prstGeom>
          <a:solidFill>
            <a:srgbClr val="142C47"/>
          </a:solidFill>
          <a:ln w="1778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ai_client.py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Shared Gemini wrapper · system instruction · error handling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76272" y="4005072"/>
            <a:ext cx="18288" cy="329184"/>
          </a:xfrm>
          <a:prstGeom prst="rect">
            <a:avLst/>
          </a:prstGeom>
          <a:solidFill>
            <a:srgbClr val="9BB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176272" y="4005072"/>
            <a:ext cx="6035040" cy="18288"/>
          </a:xfrm>
          <a:prstGeom prst="rect">
            <a:avLst/>
          </a:prstGeom>
          <a:solidFill>
            <a:srgbClr val="9BB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93024" y="4005072"/>
            <a:ext cx="18288" cy="329184"/>
          </a:xfrm>
          <a:prstGeom prst="rect">
            <a:avLst/>
          </a:prstGeom>
          <a:solidFill>
            <a:srgbClr val="9BB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Down Arrow 23"/>
          <p:cNvSpPr/>
          <p:nvPr/>
        </p:nvSpPr>
        <p:spPr>
          <a:xfrm>
            <a:off x="5989320" y="4956048"/>
            <a:ext cx="201168" cy="310896"/>
          </a:xfrm>
          <a:prstGeom prst="downArrow">
            <a:avLst/>
          </a:prstGeom>
          <a:solidFill>
            <a:srgbClr val="9BB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041648" y="5321808"/>
            <a:ext cx="4114800" cy="640080"/>
          </a:xfrm>
          <a:prstGeom prst="roundRect">
            <a:avLst>
              <a:gd name="adj" fmla="val 10000"/>
            </a:avLst>
          </a:prstGeom>
          <a:solidFill>
            <a:srgbClr val="142C47"/>
          </a:solidFill>
          <a:ln w="17780">
            <a:solidFill>
              <a:srgbClr val="7C8D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Google Gemini 2.0 Flash API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gemini-2.0-flash  ·  HTTPS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60" y="4059936"/>
            <a:ext cx="2880360" cy="274320"/>
          </a:xfrm>
          <a:prstGeom prst="roundRect">
            <a:avLst>
              <a:gd name="adj" fmla="val 40000"/>
            </a:avLst>
          </a:prstGeom>
          <a:solidFill>
            <a:srgbClr val="33181E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FF6B6B"/>
                </a:solidFill>
                <a:latin typeface="Segoe UI"/>
              </a:rPr>
              <a:t>✖  NO NETWORK · NO AI · NO STORAGE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DE1C2"/>
                </a:solidFill>
                <a:latin typeface="Segoe UI"/>
              </a:rPr>
              <a:t>Rule:  </a:t>
            </a:r>
            <a:r>
              <a:rPr sz="1000" b="0" i="0">
                <a:solidFill>
                  <a:srgbClr val="9BB1C9"/>
                </a:solidFill>
                <a:latin typeface="Segoe UI"/>
              </a:rPr>
              <a:t>no module imports anything it does not need. password_advisor.py and strength_rules.py never touch ai_client.py — so a password can never reach the API.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018520" y="310896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6B6B"/>
                </a:solidFill>
                <a:latin typeface="Segoe UI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241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6B6B"/>
                </a:solidFill>
                <a:latin typeface="Segoe UI"/>
              </a:rPr>
              <a:t>MESSAGE ANALYZER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Feature 1 — “Is This Safe?”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371600" cy="457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6382512"/>
            <a:ext cx="11091672" cy="10972"/>
          </a:xfrm>
          <a:prstGeom prst="rect">
            <a:avLst/>
          </a:prstGeom>
          <a:solidFill>
            <a:srgbClr val="254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BB1C9"/>
                </a:solidFill>
                <a:latin typeface="Segoe UI"/>
              </a:rPr>
              <a:t>ShieldAI  ·  AI-Powered Cybersecurity Awareness Assistant  ·  SkillUp Hackathon × IBM SkillsBuild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98448"/>
            <a:ext cx="60350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BB1C9"/>
                </a:solidFill>
                <a:latin typeface="Segoe UI"/>
              </a:rPr>
              <a:t>Paste any suspicious message. Get a verdict you can actually understand.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33372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1737360"/>
            <a:ext cx="5779007" cy="51206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6B6B"/>
                </a:solidFill>
                <a:latin typeface="Segoe UI"/>
              </a:rPr>
              <a:t>Paste anything —  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email, SMS, WhatsApp forward, social media DM.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45436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2249424"/>
            <a:ext cx="5779007" cy="51206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6B6B"/>
                </a:solidFill>
                <a:latin typeface="Segoe UI"/>
              </a:rPr>
              <a:t>One clear verdict —  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Likely Safe · Needs Caution · Suspicious.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57500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2761488"/>
            <a:ext cx="5779007" cy="51206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6B6B"/>
                </a:solidFill>
                <a:latin typeface="Segoe UI"/>
              </a:rPr>
              <a:t>Warning signs listed —  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grouped into 8 categories with a plain-English “why”.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369564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3273552"/>
            <a:ext cx="5779007" cy="51206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6B6B"/>
                </a:solidFill>
                <a:latin typeface="Segoe UI"/>
              </a:rPr>
              <a:t>Explanation —  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what the message is trying to make you do.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81628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3785616"/>
            <a:ext cx="5779007" cy="51206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6B6B"/>
                </a:solidFill>
                <a:latin typeface="Segoe UI"/>
              </a:rPr>
              <a:t>Recommended actions —  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a numbered list of safe next steps.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93692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4297680"/>
            <a:ext cx="5779007" cy="51206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6B6B"/>
                </a:solidFill>
                <a:latin typeface="Segoe UI"/>
              </a:rPr>
              <a:t>Confidence note —  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always reminds you it is a guide, not a guarantee.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905756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4809744"/>
            <a:ext cx="5779007" cy="51206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6B6B"/>
                </a:solidFill>
                <a:latin typeface="Segoe UI"/>
              </a:rPr>
              <a:t>Room to paste —  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up to 2,000 characters per message.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1371600"/>
            <a:ext cx="4736592" cy="1828800"/>
          </a:xfrm>
          <a:prstGeom prst="roundRect">
            <a:avLst>
              <a:gd name="adj" fmla="val 6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20" y="1499616"/>
            <a:ext cx="429768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The three possible verdicts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0" y="1883664"/>
            <a:ext cx="1572768" cy="365760"/>
          </a:xfrm>
          <a:prstGeom prst="roundRect">
            <a:avLst>
              <a:gd name="adj" fmla="val 20000"/>
            </a:avLst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0A1626"/>
                </a:solidFill>
                <a:latin typeface="Segoe UI"/>
              </a:rPr>
              <a:t>LIKELY SAFE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51392" y="1947672"/>
            <a:ext cx="26517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No strong scam signals found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0" y="2340864"/>
            <a:ext cx="1572768" cy="365760"/>
          </a:xfrm>
          <a:prstGeom prst="roundRect">
            <a:avLst>
              <a:gd name="adj" fmla="val 20000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0A1626"/>
                </a:solidFill>
                <a:latin typeface="Segoe UI"/>
              </a:rPr>
              <a:t>NEEDS CAUTION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51392" y="2404872"/>
            <a:ext cx="26517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Some signals — slow down and verify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0" y="2798064"/>
            <a:ext cx="1572768" cy="365760"/>
          </a:xfrm>
          <a:prstGeom prst="roundRect">
            <a:avLst>
              <a:gd name="adj" fmla="val 2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0A1626"/>
                </a:solidFill>
                <a:latin typeface="Segoe UI"/>
              </a:rPr>
              <a:t>SUSPICIOUS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51392" y="2862072"/>
            <a:ext cx="26517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Multiple red flags — do not click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03720" y="3401568"/>
            <a:ext cx="4736592" cy="2148840"/>
          </a:xfrm>
          <a:prstGeom prst="roundRect">
            <a:avLst>
              <a:gd name="adj" fmla="val 6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32320" y="3529584"/>
            <a:ext cx="429768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8 warning-sign categories scanned</a:t>
            </a:r>
          </a:p>
        </p:txBody>
      </p:sp>
      <p:sp>
        <p:nvSpPr>
          <p:cNvPr id="34" name="Oval 33"/>
          <p:cNvSpPr/>
          <p:nvPr/>
        </p:nvSpPr>
        <p:spPr>
          <a:xfrm>
            <a:off x="7132320" y="4000500"/>
            <a:ext cx="73152" cy="73152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0" y="3913632"/>
            <a:ext cx="20116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Urgency or Pressure</a:t>
            </a:r>
          </a:p>
        </p:txBody>
      </p:sp>
      <p:sp>
        <p:nvSpPr>
          <p:cNvPr id="36" name="Oval 35"/>
          <p:cNvSpPr/>
          <p:nvPr/>
        </p:nvSpPr>
        <p:spPr>
          <a:xfrm>
            <a:off x="9345167" y="4000500"/>
            <a:ext cx="73152" cy="73152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528047" y="3913632"/>
            <a:ext cx="20116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Password / OTP request</a:t>
            </a:r>
          </a:p>
        </p:txBody>
      </p:sp>
      <p:sp>
        <p:nvSpPr>
          <p:cNvPr id="38" name="Oval 37"/>
          <p:cNvSpPr/>
          <p:nvPr/>
        </p:nvSpPr>
        <p:spPr>
          <a:xfrm>
            <a:off x="7132320" y="4384548"/>
            <a:ext cx="73152" cy="73152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200" y="4297680"/>
            <a:ext cx="20116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Suspicious link</a:t>
            </a:r>
          </a:p>
        </p:txBody>
      </p:sp>
      <p:sp>
        <p:nvSpPr>
          <p:cNvPr id="40" name="Oval 39"/>
          <p:cNvSpPr/>
          <p:nvPr/>
        </p:nvSpPr>
        <p:spPr>
          <a:xfrm>
            <a:off x="9345167" y="4384548"/>
            <a:ext cx="73152" cy="73152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528047" y="4297680"/>
            <a:ext cx="20116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Money or payment request</a:t>
            </a:r>
          </a:p>
        </p:txBody>
      </p:sp>
      <p:sp>
        <p:nvSpPr>
          <p:cNvPr id="42" name="Oval 41"/>
          <p:cNvSpPr/>
          <p:nvPr/>
        </p:nvSpPr>
        <p:spPr>
          <a:xfrm>
            <a:off x="7132320" y="4768596"/>
            <a:ext cx="73152" cy="73152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315200" y="4681728"/>
            <a:ext cx="20116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Impersonation</a:t>
            </a:r>
          </a:p>
        </p:txBody>
      </p:sp>
      <p:sp>
        <p:nvSpPr>
          <p:cNvPr id="44" name="Oval 43"/>
          <p:cNvSpPr/>
          <p:nvPr/>
        </p:nvSpPr>
        <p:spPr>
          <a:xfrm>
            <a:off x="9345167" y="4768596"/>
            <a:ext cx="73152" cy="73152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528047" y="4681728"/>
            <a:ext cx="20116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Unusual spelling or wording</a:t>
            </a:r>
          </a:p>
        </p:txBody>
      </p:sp>
      <p:sp>
        <p:nvSpPr>
          <p:cNvPr id="46" name="Oval 45"/>
          <p:cNvSpPr/>
          <p:nvPr/>
        </p:nvSpPr>
        <p:spPr>
          <a:xfrm>
            <a:off x="7132320" y="5152644"/>
            <a:ext cx="73152" cy="73152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315200" y="5065776"/>
            <a:ext cx="20116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Attachment reference</a:t>
            </a:r>
          </a:p>
        </p:txBody>
      </p:sp>
      <p:sp>
        <p:nvSpPr>
          <p:cNvPr id="48" name="Oval 47"/>
          <p:cNvSpPr/>
          <p:nvPr/>
        </p:nvSpPr>
        <p:spPr>
          <a:xfrm>
            <a:off x="9345167" y="5152644"/>
            <a:ext cx="73152" cy="73152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528047" y="5065776"/>
            <a:ext cx="20116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Sensitive personal info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5669280"/>
            <a:ext cx="6035040" cy="566928"/>
          </a:xfrm>
          <a:prstGeom prst="roundRect">
            <a:avLst>
              <a:gd name="adj" fmla="val 6000"/>
            </a:avLst>
          </a:prstGeom>
          <a:solidFill>
            <a:srgbClr val="2A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77240" y="5779008"/>
            <a:ext cx="5669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FFFFFF"/>
                </a:solidFill>
                <a:latin typeface="Segoe UI"/>
              </a:rPr>
              <a:t>Honest by design: “This analysis is a guide only — not a guarantee.”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018520" y="310896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6B6B"/>
                </a:solidFill>
                <a:latin typeface="Segoe UI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241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6B6B"/>
                </a:solidFill>
                <a:latin typeface="Segoe UI"/>
              </a:rPr>
              <a:t>FEATURE 1 —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Two-Stage Analysis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371600" cy="457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6382512"/>
            <a:ext cx="11091672" cy="10972"/>
          </a:xfrm>
          <a:prstGeom prst="rect">
            <a:avLst/>
          </a:prstGeom>
          <a:solidFill>
            <a:srgbClr val="254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BB1C9"/>
                </a:solidFill>
                <a:latin typeface="Segoe UI"/>
              </a:rPr>
              <a:t>ShieldAI  ·  AI-Powered Cybersecurity Awareness Assistant  ·  SkillUp Hackathon × IBM SkillsBuild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1064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BB1C9"/>
                </a:solidFill>
                <a:latin typeface="Segoe UI"/>
              </a:rPr>
              <a:t>Stage 1 is instant and free. Stage 2 adds human-like judgement. Together they are stronger than either alone.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19072"/>
            <a:ext cx="5440680" cy="2395728"/>
          </a:xfrm>
          <a:prstGeom prst="roundRect">
            <a:avLst>
              <a:gd name="adj" fmla="val 6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1719072"/>
            <a:ext cx="45720" cy="2395728"/>
          </a:xfrm>
          <a:prstGeom prst="rect">
            <a:avLst/>
          </a:prstGeom>
          <a:solidFill>
            <a:srgbClr val="2DE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77240" y="184708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2DE1C2"/>
          </a:solidFill>
          <a:ln w="12700">
            <a:solidFill>
              <a:srgbClr val="2DE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A1626"/>
                </a:solidFill>
                <a:latin typeface="Segoe UI"/>
              </a:rPr>
              <a:t>STAGE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7712" y="1847088"/>
            <a:ext cx="3566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Local heuristic scan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363724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2DE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33271" y="2267712"/>
            <a:ext cx="4773168" cy="3840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Segoe UI"/>
              </a:rPr>
              <a:t>Runs on your machine — no API call, no cost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747772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2DE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33271" y="2651760"/>
            <a:ext cx="4773168" cy="3840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Segoe UI"/>
              </a:rPr>
              <a:t>152 patterns across 8 categories, case-insensitive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131820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2DE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33271" y="3035808"/>
            <a:ext cx="4773168" cy="3840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Segoe UI"/>
              </a:rPr>
              <a:t>Catches urgency, OTP requests, fake links, money asks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515868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2DE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33271" y="3419856"/>
            <a:ext cx="4773168" cy="3840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Segoe UI"/>
              </a:rPr>
              <a:t>Works even when the AI is slow or unavailable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899915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2DE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33271" y="3803904"/>
            <a:ext cx="4773168" cy="3840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Segoe UI"/>
              </a:rPr>
              <a:t>Findings are passed to Stage 2 as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1719072"/>
            <a:ext cx="5440680" cy="2395728"/>
          </a:xfrm>
          <a:prstGeom prst="roundRect">
            <a:avLst>
              <a:gd name="adj" fmla="val 6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99632" y="1719072"/>
            <a:ext cx="45720" cy="2395728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28232" y="184708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A1626"/>
                </a:solidFill>
                <a:latin typeface="Segoe UI"/>
              </a:rPr>
              <a:t>STAGE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18704" y="1847088"/>
            <a:ext cx="3566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Gemini AI analysis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28232" y="2363724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84264" y="2267712"/>
            <a:ext cx="4773168" cy="3840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Segoe UI"/>
              </a:rPr>
              <a:t>Prompt includes the message + heuristics found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28232" y="2747772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84264" y="2651760"/>
            <a:ext cx="4773168" cy="3840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Segoe UI"/>
              </a:rPr>
              <a:t>Model returns strict JSON: verdict, why, next steps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28232" y="3131820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84264" y="3035808"/>
            <a:ext cx="4773168" cy="3840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Segoe UI"/>
              </a:rPr>
              <a:t>Markdown code fences stripped before parsing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28232" y="3515868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84264" y="3419856"/>
            <a:ext cx="4773168" cy="3840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Segoe UI"/>
              </a:rPr>
              <a:t>Unknown verdict → safely normalised to “Needs Caution”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28232" y="3899915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84264" y="3803904"/>
            <a:ext cx="4773168" cy="3840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Segoe UI"/>
              </a:rPr>
              <a:t>Malformed JSON → graceful fallback, never a crash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5870448" y="2761488"/>
            <a:ext cx="219456" cy="329184"/>
          </a:xfrm>
          <a:prstGeom prst="rightArrow">
            <a:avLst/>
          </a:prstGeom>
          <a:solidFill>
            <a:srgbClr val="4A6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48640" y="4279392"/>
            <a:ext cx="11064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End-to-end flow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4626864"/>
            <a:ext cx="1664208" cy="749808"/>
          </a:xfrm>
          <a:prstGeom prst="roundRect">
            <a:avLst>
              <a:gd name="adj" fmla="val 10000"/>
            </a:avLst>
          </a:prstGeom>
          <a:solidFill>
            <a:srgbClr val="142C47"/>
          </a:solidFill>
          <a:ln w="17780">
            <a:solidFill>
              <a:srgbClr val="2DE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User pastes
message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2231136" y="4864608"/>
            <a:ext cx="118872" cy="237744"/>
          </a:xfrm>
          <a:prstGeom prst="rightArrow">
            <a:avLst/>
          </a:prstGeom>
          <a:solidFill>
            <a:srgbClr val="4A6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2359152" y="4626864"/>
            <a:ext cx="1664208" cy="749808"/>
          </a:xfrm>
          <a:prstGeom prst="roundRect">
            <a:avLst>
              <a:gd name="adj" fmla="val 10000"/>
            </a:avLst>
          </a:prstGeom>
          <a:solidFill>
            <a:srgbClr val="142C47"/>
          </a:solidFill>
          <a:ln w="17780">
            <a:solidFill>
              <a:srgbClr val="7C8D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Validate
≤ 2000 chars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4041648" y="4864608"/>
            <a:ext cx="118872" cy="237744"/>
          </a:xfrm>
          <a:prstGeom prst="rightArrow">
            <a:avLst/>
          </a:prstGeom>
          <a:solidFill>
            <a:srgbClr val="4A6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4169663" y="4626864"/>
            <a:ext cx="1664208" cy="749808"/>
          </a:xfrm>
          <a:prstGeom prst="roundRect">
            <a:avLst>
              <a:gd name="adj" fmla="val 10000"/>
            </a:avLst>
          </a:prstGeom>
          <a:solidFill>
            <a:srgbClr val="142C47"/>
          </a:solidFill>
          <a:ln w="17780">
            <a:solidFill>
              <a:srgbClr val="2DE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Heuristic
scan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5852159" y="4864608"/>
            <a:ext cx="118872" cy="237744"/>
          </a:xfrm>
          <a:prstGeom prst="rightArrow">
            <a:avLst/>
          </a:prstGeom>
          <a:solidFill>
            <a:srgbClr val="4A6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5980175" y="4626864"/>
            <a:ext cx="1664208" cy="749808"/>
          </a:xfrm>
          <a:prstGeom prst="roundRect">
            <a:avLst>
              <a:gd name="adj" fmla="val 10000"/>
            </a:avLst>
          </a:prstGeom>
          <a:solidFill>
            <a:srgbClr val="142C47"/>
          </a:solidFill>
          <a:ln w="1778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Gemini
2.0 Flash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7662671" y="4864608"/>
            <a:ext cx="118872" cy="237744"/>
          </a:xfrm>
          <a:prstGeom prst="rightArrow">
            <a:avLst/>
          </a:prstGeom>
          <a:solidFill>
            <a:srgbClr val="4A6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7790688" y="4626864"/>
            <a:ext cx="1664208" cy="749808"/>
          </a:xfrm>
          <a:prstGeom prst="roundRect">
            <a:avLst>
              <a:gd name="adj" fmla="val 10000"/>
            </a:avLst>
          </a:prstGeom>
          <a:solidFill>
            <a:srgbClr val="142C47"/>
          </a:solidFill>
          <a:ln w="17780">
            <a:solidFill>
              <a:srgbClr val="7C8D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Parse +
normalise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9473184" y="4864608"/>
            <a:ext cx="118872" cy="237744"/>
          </a:xfrm>
          <a:prstGeom prst="rightArrow">
            <a:avLst/>
          </a:prstGeom>
          <a:solidFill>
            <a:srgbClr val="4A6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9601200" y="4626864"/>
            <a:ext cx="1664208" cy="749808"/>
          </a:xfrm>
          <a:prstGeom prst="roundRect">
            <a:avLst>
              <a:gd name="adj" fmla="val 10000"/>
            </a:avLst>
          </a:prstGeom>
          <a:solidFill>
            <a:srgbClr val="142C47"/>
          </a:solidFill>
          <a:ln w="17780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Verdict +
next steps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8640" y="5596128"/>
            <a:ext cx="11091672" cy="640080"/>
          </a:xfrm>
          <a:prstGeom prst="roundRect">
            <a:avLst>
              <a:gd name="adj" fmla="val 6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77240" y="5705856"/>
            <a:ext cx="10789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6B6B"/>
                </a:solidFill>
                <a:latin typeface="Segoe UI"/>
              </a:rPr>
              <a:t>Failure handling:  </a:t>
            </a:r>
            <a:r>
              <a:rPr sz="1050" b="0" i="0">
                <a:solidFill>
                  <a:srgbClr val="9BB1C9"/>
                </a:solidFill>
                <a:latin typeface="Segoe UI"/>
              </a:rPr>
              <a:t>empty or oversized input → InvalidInputError (✏️ warning)   ·   API failure → AIServiceError (🤖 error)   ·   the app never shows a raw traceback.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018520" y="310896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6B6B"/>
                </a:solidFill>
                <a:latin typeface="Segoe UI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241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6B6B"/>
                </a:solidFill>
                <a:latin typeface="Segoe UI"/>
              </a:rPr>
              <a:t>SCREENSHOT: “IS THIS SAFE?” 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Feature 1 — UI Walkthrough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371600" cy="457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6382512"/>
            <a:ext cx="11091672" cy="10972"/>
          </a:xfrm>
          <a:prstGeom prst="rect">
            <a:avLst/>
          </a:prstGeom>
          <a:solidFill>
            <a:srgbClr val="254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BB1C9"/>
                </a:solidFill>
                <a:latin typeface="Segoe UI"/>
              </a:rPr>
              <a:t>ShieldAI  ·  AI-Powered Cybersecurity Awareness Assistant  ·  SkillUp Hackathon × IBM SkillsBuild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280160"/>
            <a:ext cx="6903720" cy="4754880"/>
          </a:xfrm>
          <a:prstGeom prst="roundRect">
            <a:avLst>
              <a:gd name="adj" fmla="val 2000"/>
            </a:avLst>
          </a:prstGeom>
          <a:solidFill>
            <a:srgbClr val="1C2733"/>
          </a:solidFill>
          <a:ln w="12700">
            <a:solidFill>
              <a:srgbClr val="304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13232" y="1399031"/>
            <a:ext cx="82296" cy="8229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77824" y="1399031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42416" y="1399031"/>
            <a:ext cx="82296" cy="82296"/>
          </a:xfrm>
          <a:prstGeom prst="ellipse">
            <a:avLst/>
          </a:prstGeom>
          <a:solidFill>
            <a:srgbClr val="28C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52728" y="1353312"/>
            <a:ext cx="553212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C8096"/>
                </a:solidFill>
                <a:latin typeface="Segoe UI"/>
              </a:rPr>
              <a:t>localhost:8501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609343"/>
            <a:ext cx="6903720" cy="10972"/>
          </a:xfrm>
          <a:prstGeom prst="rect">
            <a:avLst/>
          </a:prstGeom>
          <a:solidFill>
            <a:srgbClr val="304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8" y="1700784"/>
            <a:ext cx="64465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🛡️  Cybersecurity Awareness Assistant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8" y="2295144"/>
            <a:ext cx="6446520" cy="18288"/>
          </a:xfrm>
          <a:prstGeom prst="rect">
            <a:avLst/>
          </a:prstGeom>
          <a:solidFill>
            <a:srgbClr val="2B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5528" y="2276856"/>
            <a:ext cx="2148840" cy="41148"/>
          </a:xfrm>
          <a:prstGeom prst="rect">
            <a:avLst/>
          </a:prstGeom>
          <a:solidFill>
            <a:srgbClr val="FF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8" y="2057400"/>
            <a:ext cx="2148840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🔍  Is This Safe?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4368" y="2057400"/>
            <a:ext cx="2148840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7F93A8"/>
                </a:solidFill>
                <a:latin typeface="Segoe UI"/>
              </a:rPr>
              <a:t>🔑  Password Advisor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3208" y="2057400"/>
            <a:ext cx="2148840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7F93A8"/>
                </a:solidFill>
                <a:latin typeface="Segoe UI"/>
              </a:rPr>
              <a:t>💬  Cyber Chatbot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2551175"/>
            <a:ext cx="644652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A8B8C9"/>
                </a:solidFill>
                <a:latin typeface="Segoe UI"/>
              </a:rPr>
              <a:t>Paste the email, SMS or message you want to check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8" y="2734056"/>
            <a:ext cx="6446520" cy="475488"/>
          </a:xfrm>
          <a:prstGeom prst="roundRect">
            <a:avLst>
              <a:gd name="adj" fmla="val 3000"/>
            </a:avLst>
          </a:prstGeom>
          <a:solidFill>
            <a:srgbClr val="111A24"/>
          </a:solidFill>
          <a:ln w="12700">
            <a:solidFill>
              <a:srgbClr val="3E5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5256" y="2825496"/>
            <a:ext cx="6227064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D5DEE8"/>
                </a:solidFill>
                <a:latin typeface="Segoe UI"/>
              </a:rPr>
              <a:t>URGENT: Your bank account has been suspended. Verify your OTP within 24 hours or it will be permanently closed.
Click here: http://secure-bank-login.xyz/verify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8" y="3282696"/>
            <a:ext cx="1828800" cy="274320"/>
          </a:xfrm>
          <a:prstGeom prst="roundRect">
            <a:avLst>
              <a:gd name="adj" fmla="val 12000"/>
            </a:avLst>
          </a:prstGeom>
          <a:solidFill>
            <a:srgbClr val="FF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🔍  Analyze Message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8" y="3630168"/>
            <a:ext cx="6446520" cy="438912"/>
          </a:xfrm>
          <a:prstGeom prst="roundRect">
            <a:avLst>
              <a:gd name="adj" fmla="val 3000"/>
            </a:avLst>
          </a:prstGeom>
          <a:solidFill>
            <a:srgbClr val="1E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95528" y="3630168"/>
            <a:ext cx="41148" cy="4389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1832" y="3703320"/>
            <a:ext cx="6172200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6B6B"/>
                </a:solidFill>
                <a:latin typeface="Segoe UI"/>
              </a:rPr>
              <a:t>🚨  SUSPICIOUS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" y="3959352"/>
            <a:ext cx="61722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B9C6D4"/>
                </a:solidFill>
                <a:latin typeface="Segoe UI"/>
              </a:rPr>
              <a:t>Do not click any link or share any code in this message.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8" y="4142232"/>
            <a:ext cx="6446520" cy="731520"/>
          </a:xfrm>
          <a:prstGeom prst="roundRect">
            <a:avLst>
              <a:gd name="adj" fmla="val 3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95528" y="4142232"/>
            <a:ext cx="41148" cy="73152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41832" y="4215384"/>
            <a:ext cx="6172200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B020"/>
                </a:solidFill>
                <a:latin typeface="Segoe UI"/>
              </a:rPr>
              <a:t>⚠️  Warning Signs Detected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" y="4471416"/>
            <a:ext cx="61722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B9C6D4"/>
                </a:solidFill>
                <a:latin typeface="Segoe UI"/>
              </a:rPr>
              <a:t>•  Urgency or Pressure          •  Request for Password or OTP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" y="4645152"/>
            <a:ext cx="61722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B9C6D4"/>
                </a:solidFill>
                <a:latin typeface="Segoe UI"/>
              </a:rPr>
              <a:t>•  Suspicious Link              •  Impersonation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5528" y="4965192"/>
            <a:ext cx="6446520" cy="658368"/>
          </a:xfrm>
          <a:prstGeom prst="roundRect">
            <a:avLst>
              <a:gd name="adj" fmla="val 3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95528" y="4965192"/>
            <a:ext cx="41148" cy="658368"/>
          </a:xfrm>
          <a:prstGeom prst="rect">
            <a:avLst/>
          </a:prstGeom>
          <a:solidFill>
            <a:srgbClr val="2DE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41832" y="5038344"/>
            <a:ext cx="6172200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DE1C2"/>
                </a:solidFill>
                <a:latin typeface="Segoe UI"/>
              </a:rPr>
              <a:t>📋  Explanation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" y="5294376"/>
            <a:ext cx="61722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B9C6D4"/>
                </a:solidFill>
                <a:latin typeface="Segoe UI"/>
              </a:rPr>
              <a:t>This message pressures you to act fast, asks for an OTP (a real bank never does), and links to a domain that is not the bank’s own.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8" y="5641848"/>
            <a:ext cx="64465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C8096"/>
                </a:solidFill>
                <a:latin typeface="Segoe UI"/>
              </a:rPr>
              <a:t>⚠️  This analysis is a guide only — not a guarantee. When in doubt, do not click links or share personal information.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6089904"/>
            <a:ext cx="2286000" cy="237744"/>
          </a:xfrm>
          <a:prstGeom prst="roundRect">
            <a:avLst>
              <a:gd name="adj" fmla="val 40000"/>
            </a:avLst>
          </a:prstGeom>
          <a:solidFill>
            <a:srgbClr val="1F2D3F"/>
          </a:solidFill>
          <a:ln w="9525">
            <a:solidFill>
              <a:srgbClr val="354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9BB1C9"/>
                </a:solidFill>
                <a:latin typeface="Segoe UI"/>
              </a:rPr>
              <a:t>Drop your real screenshot here</a:t>
            </a:r>
          </a:p>
        </p:txBody>
      </p:sp>
      <p:sp>
        <p:nvSpPr>
          <p:cNvPr id="40" name="Oval 39"/>
          <p:cNvSpPr/>
          <p:nvPr/>
        </p:nvSpPr>
        <p:spPr>
          <a:xfrm>
            <a:off x="7726679" y="1481328"/>
            <a:ext cx="329184" cy="329184"/>
          </a:xfrm>
          <a:prstGeom prst="ellipse">
            <a:avLst/>
          </a:prstGeom>
          <a:solidFill>
            <a:srgbClr val="1B3A5C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6B6B"/>
                </a:solidFill>
                <a:latin typeface="Segoe UI"/>
              </a:rPr>
              <a:t>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56448" y="1453896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Text area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56448" y="1700784"/>
            <a:ext cx="35204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Paste the suspicious message (max 2,000 characters).</a:t>
            </a:r>
          </a:p>
        </p:txBody>
      </p:sp>
      <p:sp>
        <p:nvSpPr>
          <p:cNvPr id="43" name="Oval 42"/>
          <p:cNvSpPr/>
          <p:nvPr/>
        </p:nvSpPr>
        <p:spPr>
          <a:xfrm>
            <a:off x="7726679" y="2139696"/>
            <a:ext cx="329184" cy="329184"/>
          </a:xfrm>
          <a:prstGeom prst="ellipse">
            <a:avLst/>
          </a:prstGeom>
          <a:solidFill>
            <a:srgbClr val="1B3A5C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6B6B"/>
                </a:solidFill>
                <a:latin typeface="Segoe UI"/>
              </a:rPr>
              <a:t>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56448" y="2112264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Analyze button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56448" y="2359152"/>
            <a:ext cx="35204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Runs the heuristic scan, then the AI analysis.</a:t>
            </a:r>
          </a:p>
        </p:txBody>
      </p:sp>
      <p:sp>
        <p:nvSpPr>
          <p:cNvPr id="46" name="Oval 45"/>
          <p:cNvSpPr/>
          <p:nvPr/>
        </p:nvSpPr>
        <p:spPr>
          <a:xfrm>
            <a:off x="7726679" y="2798064"/>
            <a:ext cx="329184" cy="329184"/>
          </a:xfrm>
          <a:prstGeom prst="ellipse">
            <a:avLst/>
          </a:prstGeom>
          <a:solidFill>
            <a:srgbClr val="1B3A5C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6B6B"/>
                </a:solidFill>
                <a:latin typeface="Segoe UI"/>
              </a:rPr>
              <a:t>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56448" y="2770632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Verdict banner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56448" y="3017520"/>
            <a:ext cx="35204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Red = Suspicious, amber = Caution, green = Safe.</a:t>
            </a:r>
          </a:p>
        </p:txBody>
      </p:sp>
      <p:sp>
        <p:nvSpPr>
          <p:cNvPr id="49" name="Oval 48"/>
          <p:cNvSpPr/>
          <p:nvPr/>
        </p:nvSpPr>
        <p:spPr>
          <a:xfrm>
            <a:off x="7726679" y="3456432"/>
            <a:ext cx="329184" cy="329184"/>
          </a:xfrm>
          <a:prstGeom prst="ellipse">
            <a:avLst/>
          </a:prstGeom>
          <a:solidFill>
            <a:srgbClr val="1B3A5C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6B6B"/>
                </a:solidFill>
                <a:latin typeface="Segoe UI"/>
              </a:rPr>
              <a:t>④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56448" y="3429000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Warning signs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56448" y="3675888"/>
            <a:ext cx="35204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Categories matched by the local scan, with reasons.</a:t>
            </a:r>
          </a:p>
        </p:txBody>
      </p:sp>
      <p:sp>
        <p:nvSpPr>
          <p:cNvPr id="52" name="Oval 51"/>
          <p:cNvSpPr/>
          <p:nvPr/>
        </p:nvSpPr>
        <p:spPr>
          <a:xfrm>
            <a:off x="7726679" y="4114800"/>
            <a:ext cx="329184" cy="329184"/>
          </a:xfrm>
          <a:prstGeom prst="ellipse">
            <a:avLst/>
          </a:prstGeom>
          <a:solidFill>
            <a:srgbClr val="1B3A5C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6B6B"/>
                </a:solidFill>
                <a:latin typeface="Segoe UI"/>
              </a:rPr>
              <a:t>⑤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56448" y="4087368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Explanation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56448" y="4334256"/>
            <a:ext cx="35204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Plain English: what the message is trying to do.</a:t>
            </a:r>
          </a:p>
        </p:txBody>
      </p:sp>
      <p:sp>
        <p:nvSpPr>
          <p:cNvPr id="55" name="Oval 54"/>
          <p:cNvSpPr/>
          <p:nvPr/>
        </p:nvSpPr>
        <p:spPr>
          <a:xfrm>
            <a:off x="7726679" y="4773168"/>
            <a:ext cx="329184" cy="329184"/>
          </a:xfrm>
          <a:prstGeom prst="ellipse">
            <a:avLst/>
          </a:prstGeom>
          <a:solidFill>
            <a:srgbClr val="1B3A5C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6B6B"/>
                </a:solidFill>
                <a:latin typeface="Segoe UI"/>
              </a:rPr>
              <a:t>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56448" y="4745736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Recommended actions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56448" y="4992624"/>
            <a:ext cx="35204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Numbered, specific, safe next steps.</a:t>
            </a:r>
          </a:p>
        </p:txBody>
      </p:sp>
      <p:sp>
        <p:nvSpPr>
          <p:cNvPr id="58" name="Oval 57"/>
          <p:cNvSpPr/>
          <p:nvPr/>
        </p:nvSpPr>
        <p:spPr>
          <a:xfrm>
            <a:off x="7726679" y="5431536"/>
            <a:ext cx="329184" cy="329184"/>
          </a:xfrm>
          <a:prstGeom prst="ellipse">
            <a:avLst/>
          </a:prstGeom>
          <a:solidFill>
            <a:srgbClr val="1B3A5C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6B6B"/>
                </a:solidFill>
                <a:latin typeface="Segoe UI"/>
              </a:rPr>
              <a:t>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56448" y="5404104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Confidence note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56448" y="5650992"/>
            <a:ext cx="35204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Reminder: verify via the official website or app.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018520" y="310896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3DDC97"/>
                </a:solidFill>
                <a:latin typeface="Segoe U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241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3DDC97"/>
                </a:solidFill>
                <a:latin typeface="Segoe UI"/>
              </a:rPr>
              <a:t>STRENGTH CHECKER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Feature 2 — Password Safety Advisor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371600" cy="4572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6382512"/>
            <a:ext cx="11091672" cy="10972"/>
          </a:xfrm>
          <a:prstGeom prst="rect">
            <a:avLst/>
          </a:prstGeom>
          <a:solidFill>
            <a:srgbClr val="254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BB1C9"/>
                </a:solidFill>
                <a:latin typeface="Segoe UI"/>
              </a:rPr>
              <a:t>ShieldAI  ·  AI-Powered Cybersecurity Awareness Assistant  ·  SkillUp Hackathon × IBM SkillsBuild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98448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BB1C9"/>
                </a:solidFill>
                <a:latin typeface="Segoe UI"/>
              </a:rPr>
              <a:t>Check how strong a password is — and learn exactly how to make it stronger.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33372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1737360"/>
            <a:ext cx="5687568" cy="51206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DDC97"/>
                </a:solidFill>
                <a:latin typeface="Segoe UI"/>
              </a:rPr>
              <a:t>Type a password —  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get Weak, Moderate or Strong instantly.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45436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2249424"/>
            <a:ext cx="5687568" cy="51206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DDC97"/>
                </a:solidFill>
                <a:latin typeface="Segoe UI"/>
              </a:rPr>
              <a:t>Live score bar —  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0–100, with the exact score visible.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57500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2761488"/>
            <a:ext cx="5687568" cy="51206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DDC97"/>
                </a:solidFill>
                <a:latin typeface="Segoe UI"/>
              </a:rPr>
              <a:t>Issues found —  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too short, no capital, no digit, no symbol, too common, repeated.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369564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3273552"/>
            <a:ext cx="5687568" cy="51206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DDC97"/>
                </a:solidFill>
                <a:latin typeface="Segoe UI"/>
              </a:rPr>
              <a:t>How to improve —  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tips generated from the issues actually found.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81628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3785616"/>
            <a:ext cx="5687568" cy="51206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DDC97"/>
                </a:solidFill>
                <a:latin typeface="Segoe UI"/>
              </a:rPr>
              <a:t>Colour coded —  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red / amber / green so it reads at a glance.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93692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4297680"/>
            <a:ext cx="5687568" cy="51206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DDC97"/>
                </a:solidFill>
                <a:latin typeface="Segoe UI"/>
              </a:rPr>
              <a:t>Privacy notice —  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shown on every single result.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905756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4809744"/>
            <a:ext cx="5687568" cy="51206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DDC97"/>
                </a:solidFill>
                <a:latin typeface="Segoe UI"/>
              </a:rPr>
              <a:t>It teaches —  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you learn the rule, not just the rating.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60" y="1417320"/>
            <a:ext cx="4873752" cy="2331720"/>
          </a:xfrm>
          <a:prstGeom prst="roundRect">
            <a:avLst>
              <a:gd name="adj" fmla="val 6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95160" y="1554480"/>
            <a:ext cx="448056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What the user sees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95160" y="640080"/>
            <a:ext cx="100584" cy="237744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23760" y="621792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6B6B"/>
                </a:solidFill>
                <a:latin typeface="Segoe UI"/>
              </a:rPr>
              <a:t>Weak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32520" y="704088"/>
            <a:ext cx="2651760" cy="109728"/>
          </a:xfrm>
          <a:prstGeom prst="roundRect">
            <a:avLst>
              <a:gd name="adj" fmla="val 50000"/>
            </a:avLst>
          </a:prstGeom>
          <a:solidFill>
            <a:srgbClr val="1E3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732520" y="704088"/>
            <a:ext cx="795528" cy="109728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81160" y="859536"/>
            <a:ext cx="2103120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BB1C9"/>
                </a:solidFill>
                <a:latin typeface="Segoe UI"/>
              </a:rPr>
              <a:t>0 – 39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95160" y="1042416"/>
            <a:ext cx="100584" cy="23774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23760" y="1024128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B020"/>
                </a:solidFill>
                <a:latin typeface="Segoe UI"/>
              </a:rPr>
              <a:t>Moderate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32520" y="1106424"/>
            <a:ext cx="2651760" cy="109728"/>
          </a:xfrm>
          <a:prstGeom prst="roundRect">
            <a:avLst>
              <a:gd name="adj" fmla="val 50000"/>
            </a:avLst>
          </a:prstGeom>
          <a:solidFill>
            <a:srgbClr val="1E3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732520" y="1106424"/>
            <a:ext cx="1644091" cy="109728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281160" y="1261872"/>
            <a:ext cx="2103120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BB1C9"/>
                </a:solidFill>
                <a:latin typeface="Segoe UI"/>
              </a:rPr>
              <a:t>40 – 69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95160" y="1444752"/>
            <a:ext cx="100584" cy="237744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223760" y="1426464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DDC97"/>
                </a:solidFill>
                <a:latin typeface="Segoe UI"/>
              </a:rPr>
              <a:t>Strong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32520" y="1508760"/>
            <a:ext cx="2651760" cy="109728"/>
          </a:xfrm>
          <a:prstGeom prst="roundRect">
            <a:avLst>
              <a:gd name="adj" fmla="val 50000"/>
            </a:avLst>
          </a:prstGeom>
          <a:solidFill>
            <a:srgbClr val="1E3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732520" y="1508760"/>
            <a:ext cx="2386584" cy="109728"/>
          </a:xfrm>
          <a:prstGeom prst="roundRect">
            <a:avLst>
              <a:gd name="adj" fmla="val 50000"/>
            </a:avLst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81160" y="1664208"/>
            <a:ext cx="2103120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BB1C9"/>
                </a:solidFill>
                <a:latin typeface="Segoe UI"/>
              </a:rPr>
              <a:t>70 – 100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0" y="2121408"/>
            <a:ext cx="44805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DE1C2"/>
                </a:solidFill>
                <a:latin typeface="Segoe UI"/>
              </a:rPr>
              <a:t>Example:  </a:t>
            </a:r>
            <a:r>
              <a:rPr sz="1050" b="0" i="0">
                <a:solidFill>
                  <a:srgbClr val="9BB1C9"/>
                </a:solidFill>
                <a:latin typeface="Segoe UI"/>
              </a:rPr>
              <a:t>“Summer2024!” looks complex — but it is on the common-password list, so it is flagged and penalised.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766560" y="3950208"/>
            <a:ext cx="4873752" cy="1874519"/>
          </a:xfrm>
          <a:prstGeom prst="roundRect">
            <a:avLst>
              <a:gd name="adj" fmla="val 6000"/>
            </a:avLst>
          </a:prstGeom>
          <a:solidFill>
            <a:srgbClr val="142E24"/>
          </a:solidFill>
          <a:ln w="12700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766560" y="3950208"/>
            <a:ext cx="45720" cy="1874519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022592" y="4114800"/>
            <a:ext cx="4389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DDC97"/>
                </a:solidFill>
                <a:latin typeface="Segoe UI"/>
              </a:rPr>
              <a:t>🔒  Privacy guarantee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022592" y="4604004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278624" y="4507992"/>
            <a:ext cx="4133087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Segoe UI"/>
              </a:rPr>
              <a:t>Never stored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022592" y="4933188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278624" y="4837176"/>
            <a:ext cx="4133087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Segoe UI"/>
              </a:rPr>
              <a:t>Never logged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022592" y="5262372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278624" y="5166360"/>
            <a:ext cx="4133087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Segoe UI"/>
              </a:rPr>
              <a:t>Never sent to any API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022592" y="5591556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278624" y="5495544"/>
            <a:ext cx="4133087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Segoe UI"/>
              </a:rPr>
              <a:t>Never saved in the result object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5742432"/>
            <a:ext cx="5943600" cy="457200"/>
          </a:xfrm>
          <a:prstGeom prst="roundRect">
            <a:avLst>
              <a:gd name="adj" fmla="val 30000"/>
            </a:avLst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77240" y="5806440"/>
            <a:ext cx="55778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2DE1C2"/>
                </a:solidFill>
                <a:latin typeface="Segoe UI"/>
              </a:rPr>
              <a:t>“🔒 Your password was not stored, sent, or logged anywhere.”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018520" y="310896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3DDC97"/>
                </a:solidFill>
                <a:latin typeface="Segoe U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241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3DDC97"/>
                </a:solidFill>
                <a:latin typeface="Segoe UI"/>
              </a:rPr>
              <a:t>FEATURE 2 —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Scoring Logic — 100% Local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371600" cy="4572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6382512"/>
            <a:ext cx="11091672" cy="10972"/>
          </a:xfrm>
          <a:prstGeom prst="rect">
            <a:avLst/>
          </a:prstGeom>
          <a:solidFill>
            <a:srgbClr val="254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BB1C9"/>
                </a:solidFill>
                <a:latin typeface="Segoe UI"/>
              </a:rPr>
              <a:t>ShieldAI  ·  AI-Powered Cybersecurity Awareness Assistant  ·  SkillUp Hackathon × IBM SkillsBuild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64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BB1C9"/>
                </a:solidFill>
                <a:latin typeface="Segoe UI"/>
              </a:rPr>
              <a:t>No AI. No network. No storage. Just transparent rules in strength_rules.py.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00784"/>
            <a:ext cx="603504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Score breakdown  (total 100)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93392"/>
            <a:ext cx="6035040" cy="29260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2029968"/>
            <a:ext cx="237744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DE1C2"/>
                </a:solidFill>
                <a:latin typeface="Segoe UI"/>
              </a:rPr>
              <a:t>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029968"/>
            <a:ext cx="109728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DE1C2"/>
                </a:solidFill>
                <a:latin typeface="Segoe UI"/>
              </a:rPr>
              <a:t>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029968"/>
            <a:ext cx="265176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DE1C2"/>
                </a:solidFill>
                <a:latin typeface="Segoe UI"/>
              </a:rPr>
              <a:t>DETAIL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286000"/>
            <a:ext cx="6035040" cy="384048"/>
          </a:xfrm>
          <a:prstGeom prst="rect">
            <a:avLst/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2368296"/>
            <a:ext cx="237744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Length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368296"/>
            <a:ext cx="109728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3DDC97"/>
                </a:solidFill>
                <a:latin typeface="Segoe UI"/>
              </a:rPr>
              <a:t>30 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368296"/>
            <a:ext cx="265176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14+ chars = full marks · 8+ = partial credit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2752344"/>
            <a:ext cx="237744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Symbol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2752344"/>
            <a:ext cx="109728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3DDC97"/>
                </a:solidFill>
                <a:latin typeface="Segoe UI"/>
              </a:rPr>
              <a:t>25 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2752344"/>
            <a:ext cx="265176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at least one  ! @ # $ % 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054096"/>
            <a:ext cx="6035040" cy="384048"/>
          </a:xfrm>
          <a:prstGeom prst="rect">
            <a:avLst/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" y="3136391"/>
            <a:ext cx="237744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Digit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3136391"/>
            <a:ext cx="109728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3DDC97"/>
                </a:solidFill>
                <a:latin typeface="Segoe UI"/>
              </a:rPr>
              <a:t>20 pts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3136391"/>
            <a:ext cx="265176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at least one number 0–9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3520439"/>
            <a:ext cx="237744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Uppercase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3520439"/>
            <a:ext cx="109728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3DDC97"/>
                </a:solidFill>
                <a:latin typeface="Segoe UI"/>
              </a:rPr>
              <a:t>15 pts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3520439"/>
            <a:ext cx="265176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at least one A–Z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822191"/>
            <a:ext cx="6035040" cy="384048"/>
          </a:xfrm>
          <a:prstGeom prst="rect">
            <a:avLst/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3232" y="3904487"/>
            <a:ext cx="237744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Lowercase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3904487"/>
            <a:ext cx="109728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3DDC97"/>
                </a:solidFill>
                <a:latin typeface="Segoe UI"/>
              </a:rPr>
              <a:t>10 pts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3904487"/>
            <a:ext cx="265176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at least one a–z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4288536"/>
            <a:ext cx="237744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Common password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4288536"/>
            <a:ext cx="109728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6B6B"/>
                </a:solidFill>
                <a:latin typeface="Segoe UI"/>
              </a:rPr>
              <a:t>penalty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4288536"/>
            <a:ext cx="265176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83 known weak passwords, case-insensitive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590288"/>
            <a:ext cx="6035040" cy="384048"/>
          </a:xfrm>
          <a:prstGeom prst="rect">
            <a:avLst/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3232" y="4672583"/>
            <a:ext cx="237744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Repeated chars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4672583"/>
            <a:ext cx="109728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6B6B"/>
                </a:solidFill>
                <a:latin typeface="Segoe UI"/>
              </a:rPr>
              <a:t>penalty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4672583"/>
            <a:ext cx="265176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aaaa, 1212, abcabc style patterns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12280" y="1700784"/>
            <a:ext cx="4828032" cy="1417320"/>
          </a:xfrm>
          <a:prstGeom prst="roundRect">
            <a:avLst>
              <a:gd name="adj" fmla="val 6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040880" y="1810512"/>
            <a:ext cx="438912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Score → label bands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40880" y="2240279"/>
            <a:ext cx="91440" cy="201168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269480" y="2194560"/>
            <a:ext cx="128016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6B6B"/>
                </a:solidFill>
                <a:latin typeface="Consolas"/>
              </a:rPr>
              <a:t>0 – 39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2194560"/>
            <a:ext cx="201168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Segoe UI"/>
              </a:rPr>
              <a:t>Weak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40880" y="2542032"/>
            <a:ext cx="91440" cy="201168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269480" y="2496312"/>
            <a:ext cx="128016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B020"/>
                </a:solidFill>
                <a:latin typeface="Consolas"/>
              </a:rPr>
              <a:t>40 – 69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2496312"/>
            <a:ext cx="201168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Segoe UI"/>
              </a:rPr>
              <a:t>Moderate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40880" y="2843784"/>
            <a:ext cx="91440" cy="201168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269480" y="2798064"/>
            <a:ext cx="128016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3DDC97"/>
                </a:solidFill>
                <a:latin typeface="Consolas"/>
              </a:rPr>
              <a:t>70 – 100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0" y="2798064"/>
            <a:ext cx="201168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Segoe UI"/>
              </a:rPr>
              <a:t>Strong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40880" y="2926080"/>
            <a:ext cx="4389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9BB1C9"/>
                </a:solidFill>
                <a:latin typeface="Segoe UI"/>
              </a:rPr>
              <a:t>Score is clamped: never below 0, never above 100.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812280" y="3310128"/>
            <a:ext cx="4828032" cy="2514600"/>
          </a:xfrm>
          <a:prstGeom prst="roundRect">
            <a:avLst>
              <a:gd name="adj" fmla="val 6000"/>
            </a:avLst>
          </a:prstGeom>
          <a:solidFill>
            <a:srgbClr val="142E24"/>
          </a:solidFill>
          <a:ln w="15240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812280" y="3310128"/>
            <a:ext cx="45720" cy="251460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059168" y="3456432"/>
            <a:ext cx="4389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DDC97"/>
                </a:solidFill>
                <a:latin typeface="Segoe UI"/>
              </a:rPr>
              <a:t>How the privacy guarantee is enforced in code</a:t>
            </a:r>
          </a:p>
        </p:txBody>
      </p:sp>
      <p:sp>
        <p:nvSpPr>
          <p:cNvPr id="55" name="Oval 54"/>
          <p:cNvSpPr/>
          <p:nvPr/>
        </p:nvSpPr>
        <p:spPr>
          <a:xfrm>
            <a:off x="7059168" y="3922776"/>
            <a:ext cx="82296" cy="82296"/>
          </a:xfrm>
          <a:prstGeom prst="ellipse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260336" y="3840480"/>
            <a:ext cx="4206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DDC97"/>
                </a:solidFill>
                <a:latin typeface="Segoe UI"/>
              </a:rPr>
              <a:t>Module rule — </a:t>
            </a:r>
            <a:r>
              <a:rPr sz="1000" b="0" i="0">
                <a:solidFill>
                  <a:srgbClr val="9BB1C9"/>
                </a:solidFill>
                <a:latin typeface="Segoe UI"/>
              </a:rPr>
              <a:t>password_advisor.py deliberately does NOT import ai_client.py</a:t>
            </a:r>
          </a:p>
        </p:txBody>
      </p:sp>
      <p:sp>
        <p:nvSpPr>
          <p:cNvPr id="57" name="Oval 56"/>
          <p:cNvSpPr/>
          <p:nvPr/>
        </p:nvSpPr>
        <p:spPr>
          <a:xfrm>
            <a:off x="7059168" y="4306824"/>
            <a:ext cx="82296" cy="82296"/>
          </a:xfrm>
          <a:prstGeom prst="ellipse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260336" y="4224528"/>
            <a:ext cx="4206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DDC97"/>
                </a:solidFill>
                <a:latin typeface="Segoe UI"/>
              </a:rPr>
              <a:t>Scope rule — </a:t>
            </a:r>
            <a:r>
              <a:rPr sz="1000" b="0" i="0">
                <a:solidFill>
                  <a:srgbClr val="9BB1C9"/>
                </a:solidFill>
                <a:latin typeface="Segoe UI"/>
              </a:rPr>
              <a:t>the password lives only inside evaluate() — never an attribute</a:t>
            </a:r>
          </a:p>
        </p:txBody>
      </p:sp>
      <p:sp>
        <p:nvSpPr>
          <p:cNvPr id="59" name="Oval 58"/>
          <p:cNvSpPr/>
          <p:nvPr/>
        </p:nvSpPr>
        <p:spPr>
          <a:xfrm>
            <a:off x="7059168" y="4690872"/>
            <a:ext cx="82296" cy="82296"/>
          </a:xfrm>
          <a:prstGeom prst="ellipse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260336" y="4608576"/>
            <a:ext cx="4206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DDC97"/>
                </a:solidFill>
                <a:latin typeface="Segoe UI"/>
              </a:rPr>
              <a:t>Result rule — </a:t>
            </a:r>
            <a:r>
              <a:rPr sz="1000" b="0" i="0">
                <a:solidFill>
                  <a:srgbClr val="9BB1C9"/>
                </a:solidFill>
                <a:latin typeface="Segoe UI"/>
              </a:rPr>
              <a:t>PasswordAnalysisResult has no password field at all</a:t>
            </a:r>
          </a:p>
        </p:txBody>
      </p:sp>
      <p:sp>
        <p:nvSpPr>
          <p:cNvPr id="61" name="Oval 60"/>
          <p:cNvSpPr/>
          <p:nvPr/>
        </p:nvSpPr>
        <p:spPr>
          <a:xfrm>
            <a:off x="7059168" y="5074920"/>
            <a:ext cx="82296" cy="82296"/>
          </a:xfrm>
          <a:prstGeom prst="ellipse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260336" y="4992624"/>
            <a:ext cx="4206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DDC97"/>
                </a:solidFill>
                <a:latin typeface="Segoe UI"/>
              </a:rPr>
              <a:t>Test rule — </a:t>
            </a:r>
            <a:r>
              <a:rPr sz="1000" b="0" i="0">
                <a:solidFill>
                  <a:srgbClr val="9BB1C9"/>
                </a:solidFill>
                <a:latin typeface="Segoe UI"/>
              </a:rPr>
              <a:t>test_result_has_no_password_field proves it</a:t>
            </a:r>
          </a:p>
        </p:txBody>
      </p:sp>
      <p:sp>
        <p:nvSpPr>
          <p:cNvPr id="63" name="Oval 62"/>
          <p:cNvSpPr/>
          <p:nvPr/>
        </p:nvSpPr>
        <p:spPr>
          <a:xfrm>
            <a:off x="7059168" y="5458968"/>
            <a:ext cx="82296" cy="82296"/>
          </a:xfrm>
          <a:prstGeom prst="ellipse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260336" y="5376672"/>
            <a:ext cx="4206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DDC97"/>
                </a:solidFill>
                <a:latin typeface="Segoe UI"/>
              </a:rPr>
              <a:t>UI rule — </a:t>
            </a:r>
            <a:r>
              <a:rPr sz="1000" b="0" i="0">
                <a:solidFill>
                  <a:srgbClr val="9BB1C9"/>
                </a:solidFill>
                <a:latin typeface="Segoe UI"/>
              </a:rPr>
              <a:t>privacy notice printed under every result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48640" y="5029200"/>
            <a:ext cx="6035040" cy="822960"/>
          </a:xfrm>
          <a:prstGeom prst="roundRect">
            <a:avLst>
              <a:gd name="adj" fmla="val 6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77240" y="5138928"/>
            <a:ext cx="56692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DE1C2"/>
                </a:solidFill>
                <a:latin typeface="Segoe UI"/>
              </a:rPr>
              <a:t>Why local beats AI here:  </a:t>
            </a:r>
            <a:r>
              <a:rPr sz="1050" b="0" i="0">
                <a:solidFill>
                  <a:srgbClr val="9BB1C9"/>
                </a:solidFill>
                <a:latin typeface="Segoe UI"/>
              </a:rPr>
              <a:t>sending a real password to any API would be a security risk. Rules are deterministic, instant, free, and testable.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018520" y="310896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3DDC97"/>
                </a:solidFill>
                <a:latin typeface="Segoe U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241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3DDC97"/>
                </a:solidFill>
                <a:latin typeface="Segoe UI"/>
              </a:rPr>
              <a:t>SCREENSHOT: PASSWORD ADVISOR 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Feature 2 — UI Walkthrough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371600" cy="4572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6382512"/>
            <a:ext cx="11091672" cy="10972"/>
          </a:xfrm>
          <a:prstGeom prst="rect">
            <a:avLst/>
          </a:prstGeom>
          <a:solidFill>
            <a:srgbClr val="254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BB1C9"/>
                </a:solidFill>
                <a:latin typeface="Segoe UI"/>
              </a:rPr>
              <a:t>ShieldAI  ·  AI-Powered Cybersecurity Awareness Assistant  ·  SkillUp Hackathon × IBM SkillsBuild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280160"/>
            <a:ext cx="6903720" cy="4754880"/>
          </a:xfrm>
          <a:prstGeom prst="roundRect">
            <a:avLst>
              <a:gd name="adj" fmla="val 2000"/>
            </a:avLst>
          </a:prstGeom>
          <a:solidFill>
            <a:srgbClr val="1C2733"/>
          </a:solidFill>
          <a:ln w="12700">
            <a:solidFill>
              <a:srgbClr val="304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13232" y="1399031"/>
            <a:ext cx="82296" cy="8229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77824" y="1399031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42416" y="1399031"/>
            <a:ext cx="82296" cy="82296"/>
          </a:xfrm>
          <a:prstGeom prst="ellipse">
            <a:avLst/>
          </a:prstGeom>
          <a:solidFill>
            <a:srgbClr val="28C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52728" y="1353312"/>
            <a:ext cx="553212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C8096"/>
                </a:solidFill>
                <a:latin typeface="Segoe UI"/>
              </a:rPr>
              <a:t>localhost:8501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609343"/>
            <a:ext cx="6903720" cy="10972"/>
          </a:xfrm>
          <a:prstGeom prst="rect">
            <a:avLst/>
          </a:prstGeom>
          <a:solidFill>
            <a:srgbClr val="304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8" y="1700784"/>
            <a:ext cx="64465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🛡️  Cybersecurity Awareness Assistant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8" y="2295144"/>
            <a:ext cx="6446520" cy="18288"/>
          </a:xfrm>
          <a:prstGeom prst="rect">
            <a:avLst/>
          </a:prstGeom>
          <a:solidFill>
            <a:srgbClr val="2B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5528" y="2057400"/>
            <a:ext cx="2148840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7F93A8"/>
                </a:solidFill>
                <a:latin typeface="Segoe UI"/>
              </a:rPr>
              <a:t>🔍  Is This Safe?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2276856"/>
            <a:ext cx="2148840" cy="41148"/>
          </a:xfrm>
          <a:prstGeom prst="rect">
            <a:avLst/>
          </a:prstGeom>
          <a:solidFill>
            <a:srgbClr val="FF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44368" y="2057400"/>
            <a:ext cx="2148840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🔑  Password Advisor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3208" y="2057400"/>
            <a:ext cx="2148840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7F93A8"/>
                </a:solidFill>
                <a:latin typeface="Segoe UI"/>
              </a:rPr>
              <a:t>💬  Cyber Chatbot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2514600"/>
            <a:ext cx="644652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A8B8C9"/>
                </a:solidFill>
                <a:latin typeface="Segoe UI"/>
              </a:rPr>
              <a:t>Enter a password to check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8" y="2697480"/>
            <a:ext cx="6446520" cy="347472"/>
          </a:xfrm>
          <a:prstGeom prst="roundRect">
            <a:avLst>
              <a:gd name="adj" fmla="val 3000"/>
            </a:avLst>
          </a:prstGeom>
          <a:solidFill>
            <a:srgbClr val="111A24"/>
          </a:solidFill>
          <a:ln w="12700">
            <a:solidFill>
              <a:srgbClr val="3E5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5256" y="2788920"/>
            <a:ext cx="6227064" cy="16459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D5DEE8"/>
                </a:solidFill>
                <a:latin typeface="Segoe UI"/>
              </a:rPr>
              <a:t>••••••••••••••••••••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8" y="3044952"/>
            <a:ext cx="1828800" cy="274320"/>
          </a:xfrm>
          <a:prstGeom prst="roundRect">
            <a:avLst>
              <a:gd name="adj" fmla="val 12000"/>
            </a:avLst>
          </a:prstGeom>
          <a:solidFill>
            <a:srgbClr val="2D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🔑  Check Strength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8" y="3392424"/>
            <a:ext cx="6446520" cy="566928"/>
          </a:xfrm>
          <a:prstGeom prst="roundRect">
            <a:avLst>
              <a:gd name="adj" fmla="val 3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95528" y="3392424"/>
            <a:ext cx="41148" cy="566928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1832" y="3465576"/>
            <a:ext cx="6172200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B020"/>
                </a:solidFill>
                <a:latin typeface="Segoe UI"/>
              </a:rPr>
              <a:t>📊  Moderate  ·  Score 55 / 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" y="3721608"/>
            <a:ext cx="61722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B9C6D4"/>
                </a:solidFill>
                <a:latin typeface="Segoe UI"/>
              </a:rPr>
              <a:t>████████████████░░░░░░░░░░░░░░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8" y="4032504"/>
            <a:ext cx="6446520" cy="868680"/>
          </a:xfrm>
          <a:prstGeom prst="roundRect">
            <a:avLst>
              <a:gd name="adj" fmla="val 3000"/>
            </a:avLst>
          </a:prstGeom>
          <a:solidFill>
            <a:srgbClr val="1E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95528" y="4032504"/>
            <a:ext cx="41148" cy="86868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41832" y="4105656"/>
            <a:ext cx="6172200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6B6B"/>
                </a:solidFill>
                <a:latin typeface="Segoe UI"/>
              </a:rPr>
              <a:t>⚠️  Issues Found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" y="4361688"/>
            <a:ext cx="61722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B9C6D4"/>
                </a:solidFill>
                <a:latin typeface="Segoe UI"/>
              </a:rPr>
              <a:t>•  Too short — aim for at least 14 characters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" y="4535424"/>
            <a:ext cx="61722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B9C6D4"/>
                </a:solidFill>
                <a:latin typeface="Segoe UI"/>
              </a:rPr>
              <a:t>•  No symbol found — add  ! @ # $ 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" y="4709160"/>
            <a:ext cx="61722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B9C6D4"/>
                </a:solidFill>
                <a:latin typeface="Segoe UI"/>
              </a:rPr>
              <a:t>•  Contains a repeated character pattern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5528" y="4974336"/>
            <a:ext cx="6446520" cy="676656"/>
          </a:xfrm>
          <a:prstGeom prst="roundRect">
            <a:avLst>
              <a:gd name="adj" fmla="val 3000"/>
            </a:avLst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95528" y="4974336"/>
            <a:ext cx="41148" cy="676656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41832" y="5047488"/>
            <a:ext cx="6172200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3DDC97"/>
                </a:solidFill>
                <a:latin typeface="Segoe UI"/>
              </a:rPr>
              <a:t>💡  How to Improve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" y="5303520"/>
            <a:ext cx="61722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B9C6D4"/>
                </a:solidFill>
                <a:latin typeface="Segoe UI"/>
              </a:rPr>
              <a:t>•  Make it 14+ characters — length beats complexity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" y="5477256"/>
            <a:ext cx="61722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B9C6D4"/>
                </a:solidFill>
                <a:latin typeface="Segoe UI"/>
              </a:rPr>
              <a:t>•  Use a unique password for every account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8" y="5669279"/>
            <a:ext cx="64465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C8096"/>
                </a:solidFill>
                <a:latin typeface="Segoe UI"/>
              </a:rPr>
              <a:t>🔒  Your password was not stored, sent, or logged anywhere.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6089904"/>
            <a:ext cx="2286000" cy="237744"/>
          </a:xfrm>
          <a:prstGeom prst="roundRect">
            <a:avLst>
              <a:gd name="adj" fmla="val 40000"/>
            </a:avLst>
          </a:prstGeom>
          <a:solidFill>
            <a:srgbClr val="1F2D3F"/>
          </a:solidFill>
          <a:ln w="9525">
            <a:solidFill>
              <a:srgbClr val="354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9BB1C9"/>
                </a:solidFill>
                <a:latin typeface="Segoe UI"/>
              </a:rPr>
              <a:t>Drop your real screenshot here</a:t>
            </a:r>
          </a:p>
        </p:txBody>
      </p:sp>
      <p:sp>
        <p:nvSpPr>
          <p:cNvPr id="42" name="Oval 41"/>
          <p:cNvSpPr/>
          <p:nvPr/>
        </p:nvSpPr>
        <p:spPr>
          <a:xfrm>
            <a:off x="7726679" y="1481328"/>
            <a:ext cx="329184" cy="329184"/>
          </a:xfrm>
          <a:prstGeom prst="ellipse">
            <a:avLst/>
          </a:prstGeom>
          <a:solidFill>
            <a:srgbClr val="1B3A5C"/>
          </a:solidFill>
          <a:ln w="12700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DDC97"/>
                </a:solidFill>
                <a:latin typeface="Segoe UI"/>
              </a:rPr>
              <a:t>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1453896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Password field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56448" y="1700784"/>
            <a:ext cx="35204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Masked input — nothing is written to disk or logs.</a:t>
            </a:r>
          </a:p>
        </p:txBody>
      </p:sp>
      <p:sp>
        <p:nvSpPr>
          <p:cNvPr id="45" name="Oval 44"/>
          <p:cNvSpPr/>
          <p:nvPr/>
        </p:nvSpPr>
        <p:spPr>
          <a:xfrm>
            <a:off x="7726679" y="2240280"/>
            <a:ext cx="329184" cy="329184"/>
          </a:xfrm>
          <a:prstGeom prst="ellipse">
            <a:avLst/>
          </a:prstGeom>
          <a:solidFill>
            <a:srgbClr val="1B3A5C"/>
          </a:solidFill>
          <a:ln w="12700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DDC97"/>
                </a:solidFill>
                <a:latin typeface="Segoe UI"/>
              </a:rPr>
              <a:t>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56448" y="2212848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Check button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56448" y="2459736"/>
            <a:ext cx="35204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Runs all local rules and returns in milliseconds.</a:t>
            </a:r>
          </a:p>
        </p:txBody>
      </p:sp>
      <p:sp>
        <p:nvSpPr>
          <p:cNvPr id="48" name="Oval 47"/>
          <p:cNvSpPr/>
          <p:nvPr/>
        </p:nvSpPr>
        <p:spPr>
          <a:xfrm>
            <a:off x="7726679" y="2999232"/>
            <a:ext cx="329184" cy="329184"/>
          </a:xfrm>
          <a:prstGeom prst="ellipse">
            <a:avLst/>
          </a:prstGeom>
          <a:solidFill>
            <a:srgbClr val="1B3A5C"/>
          </a:solidFill>
          <a:ln w="12700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DDC97"/>
                </a:solidFill>
                <a:latin typeface="Segoe UI"/>
              </a:rPr>
              <a:t>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56448" y="297180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Strength + score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56448" y="3218688"/>
            <a:ext cx="35204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Label, colour and a 0–100 progress bar.</a:t>
            </a:r>
          </a:p>
        </p:txBody>
      </p:sp>
      <p:sp>
        <p:nvSpPr>
          <p:cNvPr id="51" name="Oval 50"/>
          <p:cNvSpPr/>
          <p:nvPr/>
        </p:nvSpPr>
        <p:spPr>
          <a:xfrm>
            <a:off x="7726679" y="3758183"/>
            <a:ext cx="329184" cy="329184"/>
          </a:xfrm>
          <a:prstGeom prst="ellipse">
            <a:avLst/>
          </a:prstGeom>
          <a:solidFill>
            <a:srgbClr val="1B3A5C"/>
          </a:solidFill>
          <a:ln w="12700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DDC97"/>
                </a:solidFill>
                <a:latin typeface="Segoe UI"/>
              </a:rPr>
              <a:t>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56448" y="3730751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Issues found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56448" y="3977639"/>
            <a:ext cx="35204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Every weakness detected, in plain English.</a:t>
            </a:r>
          </a:p>
        </p:txBody>
      </p:sp>
      <p:sp>
        <p:nvSpPr>
          <p:cNvPr id="54" name="Oval 53"/>
          <p:cNvSpPr/>
          <p:nvPr/>
        </p:nvSpPr>
        <p:spPr>
          <a:xfrm>
            <a:off x="7726679" y="4517136"/>
            <a:ext cx="329184" cy="329184"/>
          </a:xfrm>
          <a:prstGeom prst="ellipse">
            <a:avLst/>
          </a:prstGeom>
          <a:solidFill>
            <a:srgbClr val="1B3A5C"/>
          </a:solidFill>
          <a:ln w="12700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DDC97"/>
                </a:solidFill>
                <a:latin typeface="Segoe UI"/>
              </a:rPr>
              <a:t>⑤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56448" y="4489703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How to improve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56448" y="4736592"/>
            <a:ext cx="35204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Tips generated from the exact issues found.</a:t>
            </a:r>
          </a:p>
        </p:txBody>
      </p:sp>
      <p:sp>
        <p:nvSpPr>
          <p:cNvPr id="57" name="Oval 56"/>
          <p:cNvSpPr/>
          <p:nvPr/>
        </p:nvSpPr>
        <p:spPr>
          <a:xfrm>
            <a:off x="7726679" y="5276088"/>
            <a:ext cx="329184" cy="329184"/>
          </a:xfrm>
          <a:prstGeom prst="ellipse">
            <a:avLst/>
          </a:prstGeom>
          <a:solidFill>
            <a:srgbClr val="1B3A5C"/>
          </a:solidFill>
          <a:ln w="12700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DDC97"/>
                </a:solidFill>
                <a:latin typeface="Segoe UI"/>
              </a:rPr>
              <a:t>⑥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56448" y="5248655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Privacy notice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56448" y="5495544"/>
            <a:ext cx="35204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Reassurance printed under every result.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018520" y="310896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4DA3FF"/>
                </a:solidFill>
                <a:latin typeface="Segoe UI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241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4DA3FF"/>
                </a:solidFill>
                <a:latin typeface="Segoe UI"/>
              </a:rPr>
              <a:t>ASK, LEARN, STAY SAFE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Feature 3 — Cyber Awareness Chatbot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371600" cy="45720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6382512"/>
            <a:ext cx="11091672" cy="10972"/>
          </a:xfrm>
          <a:prstGeom prst="rect">
            <a:avLst/>
          </a:prstGeom>
          <a:solidFill>
            <a:srgbClr val="254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BB1C9"/>
                </a:solidFill>
                <a:latin typeface="Segoe UI"/>
              </a:rPr>
              <a:t>ShieldAI  ·  AI-Powered Cybersecurity Awareness Assistant  ·  SkillUp Hackathon × IBM SkillsBuild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98448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BB1C9"/>
                </a:solidFill>
                <a:latin typeface="Segoe UI"/>
              </a:rPr>
              <a:t>A friendly tutor for the questions beginners are too shy to ask.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33372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1737360"/>
            <a:ext cx="5596128" cy="51206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DA3FF"/>
                </a:solidFill>
                <a:latin typeface="Segoe UI"/>
              </a:rPr>
              <a:t>Ask in plain English —  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“What is phishing?”, “How do I turn on 2FA?”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45436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2249424"/>
            <a:ext cx="5596128" cy="51206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DA3FF"/>
                </a:solidFill>
                <a:latin typeface="Segoe UI"/>
              </a:rPr>
              <a:t>Simple answers —  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no jargon, with a short real-world example.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57500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2761488"/>
            <a:ext cx="5596128" cy="51206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DA3FF"/>
                </a:solidFill>
                <a:latin typeface="Segoe UI"/>
              </a:rPr>
              <a:t>Action focused —  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the reply tells you what YOU can do today.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369564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3273552"/>
            <a:ext cx="5596128" cy="51206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DA3FF"/>
                </a:solidFill>
                <a:latin typeface="Segoe UI"/>
              </a:rPr>
              <a:t>Follow-ups —  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the assistant suggests what to ask next.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81628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3785616"/>
            <a:ext cx="5596128" cy="51206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DA3FF"/>
                </a:solidFill>
                <a:latin typeface="Segoe UI"/>
              </a:rPr>
              <a:t>Conversation memory —  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recent messages give it context.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93692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4297680"/>
            <a:ext cx="5596128" cy="51206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DA3FF"/>
                </a:solidFill>
                <a:latin typeface="Segoe UI"/>
              </a:rPr>
              <a:t>Clear button —  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wipe the chat and start over instantly.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905756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4809744"/>
            <a:ext cx="5596128" cy="51206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DA3FF"/>
                </a:solidFill>
                <a:latin typeface="Segoe UI"/>
              </a:rPr>
              <a:t>Safe by design —  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refuses anything offensive, and explains why.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1371600"/>
            <a:ext cx="4965192" cy="4160520"/>
          </a:xfrm>
          <a:prstGeom prst="roundRect">
            <a:avLst>
              <a:gd name="adj" fmla="val 6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31152" y="1499616"/>
            <a:ext cx="448056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17 safe topics it is happy to teach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31152" y="1901952"/>
            <a:ext cx="1481328" cy="384048"/>
          </a:xfrm>
          <a:prstGeom prst="roundRect">
            <a:avLst>
              <a:gd name="adj" fmla="val 12000"/>
            </a:avLst>
          </a:prstGeom>
          <a:solidFill>
            <a:srgbClr val="0F2138"/>
          </a:solidFill>
          <a:ln w="11430">
            <a:solidFill>
              <a:srgbClr val="2A44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C8D6E5"/>
                </a:solidFill>
                <a:latin typeface="Segoe UI"/>
              </a:rPr>
              <a:t>Phishing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13064" y="1901952"/>
            <a:ext cx="1481328" cy="384048"/>
          </a:xfrm>
          <a:prstGeom prst="roundRect">
            <a:avLst>
              <a:gd name="adj" fmla="val 12000"/>
            </a:avLst>
          </a:prstGeom>
          <a:solidFill>
            <a:srgbClr val="0F2138"/>
          </a:solidFill>
          <a:ln w="11430">
            <a:solidFill>
              <a:srgbClr val="2A44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C8D6E5"/>
                </a:solidFill>
                <a:latin typeface="Segoe UI"/>
              </a:rPr>
              <a:t>Online scams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94976" y="1901952"/>
            <a:ext cx="1481328" cy="384048"/>
          </a:xfrm>
          <a:prstGeom prst="roundRect">
            <a:avLst>
              <a:gd name="adj" fmla="val 12000"/>
            </a:avLst>
          </a:prstGeom>
          <a:solidFill>
            <a:srgbClr val="0F2138"/>
          </a:solidFill>
          <a:ln w="11430">
            <a:solidFill>
              <a:srgbClr val="2A44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C8D6E5"/>
                </a:solidFill>
                <a:latin typeface="Segoe UI"/>
              </a:rPr>
              <a:t>Password security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31152" y="2386584"/>
            <a:ext cx="1481328" cy="384048"/>
          </a:xfrm>
          <a:prstGeom prst="roundRect">
            <a:avLst>
              <a:gd name="adj" fmla="val 12000"/>
            </a:avLst>
          </a:prstGeom>
          <a:solidFill>
            <a:srgbClr val="0F2138"/>
          </a:solidFill>
          <a:ln w="11430">
            <a:solidFill>
              <a:srgbClr val="2A44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C8D6E5"/>
                </a:solidFill>
                <a:latin typeface="Segoe UI"/>
              </a:rPr>
              <a:t>MFA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13064" y="2386584"/>
            <a:ext cx="1481328" cy="384048"/>
          </a:xfrm>
          <a:prstGeom prst="roundRect">
            <a:avLst>
              <a:gd name="adj" fmla="val 12000"/>
            </a:avLst>
          </a:prstGeom>
          <a:solidFill>
            <a:srgbClr val="0F2138"/>
          </a:solidFill>
          <a:ln w="11430">
            <a:solidFill>
              <a:srgbClr val="2A44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C8D6E5"/>
                </a:solidFill>
                <a:latin typeface="Segoe UI"/>
              </a:rPr>
              <a:t>2FA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94976" y="2386584"/>
            <a:ext cx="1481328" cy="384048"/>
          </a:xfrm>
          <a:prstGeom prst="roundRect">
            <a:avLst>
              <a:gd name="adj" fmla="val 12000"/>
            </a:avLst>
          </a:prstGeom>
          <a:solidFill>
            <a:srgbClr val="0F2138"/>
          </a:solidFill>
          <a:ln w="11430">
            <a:solidFill>
              <a:srgbClr val="2A44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C8D6E5"/>
                </a:solidFill>
                <a:latin typeface="Segoe UI"/>
              </a:rPr>
              <a:t>Multi-factor auth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31152" y="2871216"/>
            <a:ext cx="1481328" cy="384048"/>
          </a:xfrm>
          <a:prstGeom prst="roundRect">
            <a:avLst>
              <a:gd name="adj" fmla="val 12000"/>
            </a:avLst>
          </a:prstGeom>
          <a:solidFill>
            <a:srgbClr val="0F2138"/>
          </a:solidFill>
          <a:ln w="11430">
            <a:solidFill>
              <a:srgbClr val="2A44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C8D6E5"/>
                </a:solidFill>
                <a:latin typeface="Segoe UI"/>
              </a:rPr>
              <a:t>Safe browsing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13064" y="2871216"/>
            <a:ext cx="1481328" cy="384048"/>
          </a:xfrm>
          <a:prstGeom prst="roundRect">
            <a:avLst>
              <a:gd name="adj" fmla="val 12000"/>
            </a:avLst>
          </a:prstGeom>
          <a:solidFill>
            <a:srgbClr val="0F2138"/>
          </a:solidFill>
          <a:ln w="11430">
            <a:solidFill>
              <a:srgbClr val="2A44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C8D6E5"/>
                </a:solidFill>
                <a:latin typeface="Segoe UI"/>
              </a:rPr>
              <a:t>Suspicious links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94976" y="2871216"/>
            <a:ext cx="1481328" cy="384048"/>
          </a:xfrm>
          <a:prstGeom prst="roundRect">
            <a:avLst>
              <a:gd name="adj" fmla="val 12000"/>
            </a:avLst>
          </a:prstGeom>
          <a:solidFill>
            <a:srgbClr val="0F2138"/>
          </a:solidFill>
          <a:ln w="11430">
            <a:solidFill>
              <a:srgbClr val="2A44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C8D6E5"/>
                </a:solidFill>
                <a:latin typeface="Segoe UI"/>
              </a:rPr>
              <a:t>Social engineering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31152" y="3355848"/>
            <a:ext cx="1481328" cy="384048"/>
          </a:xfrm>
          <a:prstGeom prst="roundRect">
            <a:avLst>
              <a:gd name="adj" fmla="val 12000"/>
            </a:avLst>
          </a:prstGeom>
          <a:solidFill>
            <a:srgbClr val="0F2138"/>
          </a:solidFill>
          <a:ln w="11430">
            <a:solidFill>
              <a:srgbClr val="2A44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C8D6E5"/>
                </a:solidFill>
                <a:latin typeface="Segoe UI"/>
              </a:rPr>
              <a:t>Privacy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13064" y="3355848"/>
            <a:ext cx="1481328" cy="384048"/>
          </a:xfrm>
          <a:prstGeom prst="roundRect">
            <a:avLst>
              <a:gd name="adj" fmla="val 12000"/>
            </a:avLst>
          </a:prstGeom>
          <a:solidFill>
            <a:srgbClr val="0F2138"/>
          </a:solidFill>
          <a:ln w="11430">
            <a:solidFill>
              <a:srgbClr val="2A44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C8D6E5"/>
                </a:solidFill>
                <a:latin typeface="Segoe UI"/>
              </a:rPr>
              <a:t>Software updates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094976" y="3355848"/>
            <a:ext cx="1481328" cy="384048"/>
          </a:xfrm>
          <a:prstGeom prst="roundRect">
            <a:avLst>
              <a:gd name="adj" fmla="val 12000"/>
            </a:avLst>
          </a:prstGeom>
          <a:solidFill>
            <a:srgbClr val="0F2138"/>
          </a:solidFill>
          <a:ln w="11430">
            <a:solidFill>
              <a:srgbClr val="2A44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C8D6E5"/>
                </a:solidFill>
                <a:latin typeface="Segoe UI"/>
              </a:rPr>
              <a:t>Public Wi-Fi safety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31152" y="3840480"/>
            <a:ext cx="1481328" cy="384048"/>
          </a:xfrm>
          <a:prstGeom prst="roundRect">
            <a:avLst>
              <a:gd name="adj" fmla="val 12000"/>
            </a:avLst>
          </a:prstGeom>
          <a:solidFill>
            <a:srgbClr val="0F2138"/>
          </a:solidFill>
          <a:ln w="11430">
            <a:solidFill>
              <a:srgbClr val="2A44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C8D6E5"/>
                </a:solidFill>
                <a:latin typeface="Segoe UI"/>
              </a:rPr>
              <a:t>Account security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13064" y="3840480"/>
            <a:ext cx="1481328" cy="384048"/>
          </a:xfrm>
          <a:prstGeom prst="roundRect">
            <a:avLst>
              <a:gd name="adj" fmla="val 12000"/>
            </a:avLst>
          </a:prstGeom>
          <a:solidFill>
            <a:srgbClr val="0F2138"/>
          </a:solidFill>
          <a:ln w="11430">
            <a:solidFill>
              <a:srgbClr val="2A44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C8D6E5"/>
                </a:solidFill>
                <a:latin typeface="Segoe UI"/>
              </a:rPr>
              <a:t>Data breaches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094976" y="3840480"/>
            <a:ext cx="1481328" cy="384048"/>
          </a:xfrm>
          <a:prstGeom prst="roundRect">
            <a:avLst>
              <a:gd name="adj" fmla="val 12000"/>
            </a:avLst>
          </a:prstGeom>
          <a:solidFill>
            <a:srgbClr val="0F2138"/>
          </a:solidFill>
          <a:ln w="11430">
            <a:solidFill>
              <a:srgbClr val="2A44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C8D6E5"/>
                </a:solidFill>
                <a:latin typeface="Segoe UI"/>
              </a:rPr>
              <a:t>Identity theft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931152" y="4325112"/>
            <a:ext cx="1481328" cy="384048"/>
          </a:xfrm>
          <a:prstGeom prst="roundRect">
            <a:avLst>
              <a:gd name="adj" fmla="val 12000"/>
            </a:avLst>
          </a:prstGeom>
          <a:solidFill>
            <a:srgbClr val="0F2138"/>
          </a:solidFill>
          <a:ln w="11430">
            <a:solidFill>
              <a:srgbClr val="2A44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C8D6E5"/>
                </a:solidFill>
                <a:latin typeface="Segoe UI"/>
              </a:rPr>
              <a:t>Ransomware awareness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13064" y="4325112"/>
            <a:ext cx="1481328" cy="384048"/>
          </a:xfrm>
          <a:prstGeom prst="roundRect">
            <a:avLst>
              <a:gd name="adj" fmla="val 12000"/>
            </a:avLst>
          </a:prstGeom>
          <a:solidFill>
            <a:srgbClr val="0F2138"/>
          </a:solidFill>
          <a:ln w="11430">
            <a:solidFill>
              <a:srgbClr val="2A44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C8D6E5"/>
                </a:solidFill>
                <a:latin typeface="Segoe UI"/>
              </a:rPr>
              <a:t>Email safety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75120" y="5650992"/>
            <a:ext cx="4965192" cy="548640"/>
          </a:xfrm>
          <a:prstGeom prst="roundRect">
            <a:avLst>
              <a:gd name="adj" fmla="val 6000"/>
            </a:avLst>
          </a:prstGeom>
          <a:solidFill>
            <a:srgbClr val="14243A"/>
          </a:solidFill>
          <a:ln w="12700">
            <a:solidFill>
              <a:srgbClr val="4D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903720" y="5742432"/>
            <a:ext cx="45720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DA3FF"/>
                </a:solidFill>
                <a:latin typeface="Segoe UI"/>
              </a:rPr>
              <a:t>Off-topic?  </a:t>
            </a:r>
            <a:r>
              <a:rPr sz="1000" b="0" i="0">
                <a:solidFill>
                  <a:srgbClr val="9BB1C9"/>
                </a:solidFill>
                <a:latin typeface="Segoe UI"/>
              </a:rPr>
              <a:t>the assistant gently redirects you back to staying safe.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650992"/>
            <a:ext cx="5852160" cy="548640"/>
          </a:xfrm>
          <a:prstGeom prst="roundRect">
            <a:avLst>
              <a:gd name="adj" fmla="val 6000"/>
            </a:avLst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77240" y="5742432"/>
            <a:ext cx="54864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B020"/>
                </a:solidFill>
                <a:latin typeface="Segoe UI"/>
              </a:rPr>
              <a:t>Limit:  </a:t>
            </a:r>
            <a:r>
              <a:rPr sz="1000" b="0" i="0">
                <a:solidFill>
                  <a:srgbClr val="9BB1C9"/>
                </a:solidFill>
                <a:latin typeface="Segoe UI"/>
              </a:rPr>
              <a:t>messages over 500 characters are silently truncated to control cost.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018520" y="310896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4DA3FF"/>
                </a:solidFill>
                <a:latin typeface="Segoe UI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241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4DA3FF"/>
                </a:solidFill>
                <a:latin typeface="Segoe UI"/>
              </a:rPr>
              <a:t>FEATURE 3 —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Two-Layer Guardrail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371600" cy="45720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6382512"/>
            <a:ext cx="11091672" cy="10972"/>
          </a:xfrm>
          <a:prstGeom prst="rect">
            <a:avLst/>
          </a:prstGeom>
          <a:solidFill>
            <a:srgbClr val="254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BB1C9"/>
                </a:solidFill>
                <a:latin typeface="Segoe UI"/>
              </a:rPr>
              <a:t>ShieldAI  ·  AI-Powered Cybersecurity Awareness Assistant  ·  SkillUp Hackathon × IBM SkillsBuild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64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BB1C9"/>
                </a:solidFill>
                <a:latin typeface="Segoe UI"/>
              </a:rPr>
              <a:t>The chatbot is built to say “no” — twice — before a harmful request can go anywhere.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00784"/>
            <a:ext cx="2011680" cy="640080"/>
          </a:xfrm>
          <a:prstGeom prst="roundRect">
            <a:avLst>
              <a:gd name="adj" fmla="val 10000"/>
            </a:avLst>
          </a:prstGeom>
          <a:solidFill>
            <a:srgbClr val="142C47"/>
          </a:solidFill>
          <a:ln w="17780">
            <a:solidFill>
              <a:srgbClr val="4D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User message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typed in chat input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463040" y="2377440"/>
            <a:ext cx="182880" cy="274320"/>
          </a:xfrm>
          <a:prstGeom prst="downArrow">
            <a:avLst/>
          </a:prstGeom>
          <a:solidFill>
            <a:srgbClr val="9BB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48640" y="2697480"/>
            <a:ext cx="2011680" cy="658368"/>
          </a:xfrm>
          <a:prstGeom prst="roundRect">
            <a:avLst>
              <a:gd name="adj" fmla="val 10000"/>
            </a:avLst>
          </a:prstGeom>
          <a:solidFill>
            <a:srgbClr val="142C47"/>
          </a:solidFill>
          <a:ln w="17780">
            <a:solidFill>
              <a:srgbClr val="7C8D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Validate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empty → rejected
&gt;500 chars → truncated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1463040" y="3392424"/>
            <a:ext cx="182880" cy="274320"/>
          </a:xfrm>
          <a:prstGeom prst="downArrow">
            <a:avLst/>
          </a:prstGeom>
          <a:solidFill>
            <a:srgbClr val="9BB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3703320"/>
            <a:ext cx="2011680" cy="841248"/>
          </a:xfrm>
          <a:prstGeom prst="roundRect">
            <a:avLst>
              <a:gd name="adj" fmla="val 10000"/>
            </a:avLst>
          </a:prstGeom>
          <a:solidFill>
            <a:srgbClr val="142C47"/>
          </a:solidFill>
          <a:ln w="1778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Layer 1
Local keyword check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35 blocked phrases
runs on your machine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463040" y="4581144"/>
            <a:ext cx="182880" cy="274320"/>
          </a:xfrm>
          <a:prstGeom prst="downArrow">
            <a:avLst/>
          </a:prstGeom>
          <a:solidFill>
            <a:srgbClr val="9BB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48640" y="4892040"/>
            <a:ext cx="2011680" cy="621792"/>
          </a:xfrm>
          <a:prstGeom prst="roundRect">
            <a:avLst>
              <a:gd name="adj" fmla="val 10000"/>
            </a:avLst>
          </a:prstGeom>
          <a:solidFill>
            <a:srgbClr val="142C47"/>
          </a:solidFill>
          <a:ln w="17780">
            <a:solidFill>
              <a:srgbClr val="2DE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Verdict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blocked or safe?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1463040" y="5550408"/>
            <a:ext cx="182880" cy="219456"/>
          </a:xfrm>
          <a:prstGeom prst="downArrow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48640" y="5797296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142C47"/>
          </a:solidFill>
          <a:ln w="1778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Polite refusal — API never called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0" y="5184648"/>
            <a:ext cx="1097280" cy="18288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39312" y="4123944"/>
            <a:ext cx="18288" cy="1078992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39312" y="4105656"/>
            <a:ext cx="2139696" cy="18288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ight Arrow 21"/>
          <p:cNvSpPr/>
          <p:nvPr/>
        </p:nvSpPr>
        <p:spPr>
          <a:xfrm>
            <a:off x="5742432" y="3995928"/>
            <a:ext cx="201168" cy="274320"/>
          </a:xfrm>
          <a:prstGeom prst="rightArrow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943600" y="3703320"/>
            <a:ext cx="2395728" cy="841248"/>
          </a:xfrm>
          <a:prstGeom prst="roundRect">
            <a:avLst>
              <a:gd name="adj" fmla="val 10000"/>
            </a:avLst>
          </a:prstGeom>
          <a:solidFill>
            <a:srgbClr val="142C47"/>
          </a:solidFill>
          <a:ln w="17780">
            <a:solidFill>
              <a:srgbClr val="4D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Layer 2
Gemini system instruction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SYSTEM_CONTEXT refuses
and redirects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503920" y="3995928"/>
            <a:ext cx="201168" cy="274320"/>
          </a:xfrm>
          <a:prstGeom prst="rightArrow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705088" y="3703320"/>
            <a:ext cx="2935224" cy="841248"/>
          </a:xfrm>
          <a:prstGeom prst="roundRect">
            <a:avLst>
              <a:gd name="adj" fmla="val 10000"/>
            </a:avLst>
          </a:prstGeom>
          <a:solidFill>
            <a:srgbClr val="142C47"/>
          </a:solidFill>
          <a:ln w="17780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Answer + follow-ups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last 6 messages used as context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4544568"/>
            <a:ext cx="18288" cy="365760"/>
          </a:xfrm>
          <a:prstGeom prst="rect">
            <a:avLst/>
          </a:prstGeom>
          <a:solidFill>
            <a:srgbClr val="9BB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943600" y="4910328"/>
            <a:ext cx="5696712" cy="621792"/>
          </a:xfrm>
          <a:prstGeom prst="roundRect">
            <a:avLst>
              <a:gd name="adj" fmla="val 10000"/>
            </a:avLst>
          </a:prstGeom>
          <a:solidFill>
            <a:srgbClr val="142C47"/>
          </a:solidFill>
          <a:ln w="17780">
            <a:solidFill>
              <a:srgbClr val="7C8DA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st.session_state chat history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kept in memory only — wiped by the Clear button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1700784"/>
            <a:ext cx="2788920" cy="1920240"/>
          </a:xfrm>
          <a:prstGeom prst="roundRect">
            <a:avLst>
              <a:gd name="adj" fmla="val 6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943600" y="1700784"/>
            <a:ext cx="50292" cy="192024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44768" y="1828800"/>
            <a:ext cx="24231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Layer 1 — local, fast, free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44768" y="2176272"/>
            <a:ext cx="242316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9BB1C9"/>
                </a:solidFill>
                <a:latin typeface="Segoe UI"/>
              </a:rPr>
              <a:t>35 blocked phrases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2432304"/>
            <a:ext cx="242316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9BB1C9"/>
                </a:solidFill>
                <a:latin typeface="Segoe UI"/>
              </a:rPr>
              <a:t>“how to hack”, “keylogger”, “brute force”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4768" y="2688336"/>
            <a:ext cx="242316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9BB1C9"/>
                </a:solidFill>
                <a:latin typeface="Segoe UI"/>
              </a:rPr>
              <a:t>“bypass 2FA”, “phishing email template”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2944368"/>
            <a:ext cx="242316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9BB1C9"/>
                </a:solidFill>
                <a:latin typeface="Segoe UI"/>
              </a:rPr>
              <a:t>“steal password”, “DDoS attack”, “doxxing”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3200400"/>
            <a:ext cx="242316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9BB1C9"/>
                </a:solidFill>
                <a:latin typeface="Segoe UI"/>
              </a:rPr>
              <a:t>Case-insensitive substring match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3456432"/>
            <a:ext cx="242316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9BB1C9"/>
                </a:solidFill>
                <a:latin typeface="Segoe UI"/>
              </a:rPr>
              <a:t>Saves the API call entirely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33688" y="1700784"/>
            <a:ext cx="2706624" cy="1920240"/>
          </a:xfrm>
          <a:prstGeom prst="roundRect">
            <a:avLst>
              <a:gd name="adj" fmla="val 6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933688" y="1700784"/>
            <a:ext cx="50292" cy="1920240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34856" y="1828800"/>
            <a:ext cx="2340864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Layer 2 — the model itself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34856" y="2176272"/>
            <a:ext cx="2340864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9BB1C9"/>
                </a:solidFill>
                <a:latin typeface="Segoe UI"/>
              </a:rPr>
              <a:t>SYSTEM_CONTEXT sent with every call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34856" y="2487168"/>
            <a:ext cx="2340864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9BB1C9"/>
                </a:solidFill>
                <a:latin typeface="Segoe UI"/>
              </a:rPr>
              <a:t>Forbids hacking, malware, credential theft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34856" y="2798064"/>
            <a:ext cx="2340864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9BB1C9"/>
                </a:solidFill>
                <a:latin typeface="Segoe UI"/>
              </a:rPr>
              <a:t>Refuses and redirects to a safety tip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34856" y="3108960"/>
            <a:ext cx="2340864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9BB1C9"/>
                </a:solidFill>
                <a:latin typeface="Segoe UI"/>
              </a:rPr>
              <a:t>Second line of defence, not the only one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018520" y="310896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4DA3FF"/>
                </a:solidFill>
                <a:latin typeface="Segoe UI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241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4DA3FF"/>
                </a:solidFill>
                <a:latin typeface="Segoe UI"/>
              </a:rPr>
              <a:t>SCREENSHOT: CYBER CHATBOT 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Feature 3 — UI Walkthrough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371600" cy="45720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6382512"/>
            <a:ext cx="11091672" cy="10972"/>
          </a:xfrm>
          <a:prstGeom prst="rect">
            <a:avLst/>
          </a:prstGeom>
          <a:solidFill>
            <a:srgbClr val="254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BB1C9"/>
                </a:solidFill>
                <a:latin typeface="Segoe UI"/>
              </a:rPr>
              <a:t>ShieldAI  ·  AI-Powered Cybersecurity Awareness Assistant  ·  SkillUp Hackathon × IBM SkillsBuild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280160"/>
            <a:ext cx="6903720" cy="4754880"/>
          </a:xfrm>
          <a:prstGeom prst="roundRect">
            <a:avLst>
              <a:gd name="adj" fmla="val 2000"/>
            </a:avLst>
          </a:prstGeom>
          <a:solidFill>
            <a:srgbClr val="1C2733"/>
          </a:solidFill>
          <a:ln w="12700">
            <a:solidFill>
              <a:srgbClr val="304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13232" y="1399031"/>
            <a:ext cx="82296" cy="8229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77824" y="1399031"/>
            <a:ext cx="82296" cy="82296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42416" y="1399031"/>
            <a:ext cx="82296" cy="82296"/>
          </a:xfrm>
          <a:prstGeom prst="ellipse">
            <a:avLst/>
          </a:prstGeom>
          <a:solidFill>
            <a:srgbClr val="28C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52728" y="1353312"/>
            <a:ext cx="553212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C8096"/>
                </a:solidFill>
                <a:latin typeface="Segoe UI"/>
              </a:rPr>
              <a:t>localhost:8501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609343"/>
            <a:ext cx="6903720" cy="10972"/>
          </a:xfrm>
          <a:prstGeom prst="rect">
            <a:avLst/>
          </a:prstGeom>
          <a:solidFill>
            <a:srgbClr val="304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8" y="1700784"/>
            <a:ext cx="64465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🛡️  Cybersecurity Awareness Assistant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8" y="2295144"/>
            <a:ext cx="6446520" cy="18288"/>
          </a:xfrm>
          <a:prstGeom prst="rect">
            <a:avLst/>
          </a:prstGeom>
          <a:solidFill>
            <a:srgbClr val="2B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5528" y="2057400"/>
            <a:ext cx="2148840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7F93A8"/>
                </a:solidFill>
                <a:latin typeface="Segoe UI"/>
              </a:rPr>
              <a:t>🔍  Is This Safe?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44368" y="2057400"/>
            <a:ext cx="2148840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7F93A8"/>
                </a:solidFill>
                <a:latin typeface="Segoe UI"/>
              </a:rPr>
              <a:t>🔑  Password Advisor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93208" y="2276856"/>
            <a:ext cx="2148840" cy="41148"/>
          </a:xfrm>
          <a:prstGeom prst="rect">
            <a:avLst/>
          </a:prstGeom>
          <a:solidFill>
            <a:srgbClr val="FF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93208" y="2057400"/>
            <a:ext cx="2148840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💬  Cyber Chatbot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81928" y="2459736"/>
            <a:ext cx="960120" cy="256032"/>
          </a:xfrm>
          <a:prstGeom prst="roundRect">
            <a:avLst>
              <a:gd name="adj" fmla="val 12000"/>
            </a:avLst>
          </a:prstGeom>
          <a:solidFill>
            <a:srgbClr val="334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🗑️  Clear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8" y="2825496"/>
            <a:ext cx="3749039" cy="420624"/>
          </a:xfrm>
          <a:prstGeom prst="roundRect">
            <a:avLst>
              <a:gd name="adj" fmla="val 12000"/>
            </a:avLst>
          </a:prstGeom>
          <a:solidFill>
            <a:srgbClr val="1E3A5F"/>
          </a:solidFill>
          <a:ln w="9525">
            <a:solidFill>
              <a:srgbClr val="354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2DE1C2"/>
                </a:solidFill>
                <a:latin typeface="Segoe UI"/>
              </a:rPr>
              <a:t>You  ·  </a:t>
            </a:r>
            <a:r>
              <a:rPr sz="900" b="0" i="0">
                <a:solidFill>
                  <a:srgbClr val="D5DEE8"/>
                </a:solidFill>
                <a:latin typeface="Segoe UI"/>
              </a:rPr>
              <a:t>What is phishing?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12848" y="3337560"/>
            <a:ext cx="4434840" cy="868680"/>
          </a:xfrm>
          <a:prstGeom prst="roundRect">
            <a:avLst>
              <a:gd name="adj" fmla="val 12000"/>
            </a:avLst>
          </a:prstGeom>
          <a:solidFill>
            <a:srgbClr val="16222E"/>
          </a:solidFill>
          <a:ln w="9525">
            <a:solidFill>
              <a:srgbClr val="354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3DDC97"/>
                </a:solidFill>
                <a:latin typeface="Segoe UI"/>
              </a:rPr>
              <a:t>Assistant  ·  </a:t>
            </a:r>
            <a:r>
              <a:rPr sz="900" b="0" i="0">
                <a:solidFill>
                  <a:srgbClr val="D5DEE8"/>
                </a:solidFill>
                <a:latin typeface="Segoe UI"/>
              </a:rPr>
              <a:t>Phishing is a fake message that pretends to be from a bank, a delivery company or a friend, and tries to make you click a link or share a code. Tip: never click the link — open the official app or website yourself. Want to know how to spot one in 10 seconds?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8" y="4297679"/>
            <a:ext cx="3291840" cy="420624"/>
          </a:xfrm>
          <a:prstGeom prst="roundRect">
            <a:avLst>
              <a:gd name="adj" fmla="val 12000"/>
            </a:avLst>
          </a:prstGeom>
          <a:solidFill>
            <a:srgbClr val="1E3A5F"/>
          </a:solidFill>
          <a:ln w="9525">
            <a:solidFill>
              <a:srgbClr val="354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2DE1C2"/>
                </a:solidFill>
                <a:latin typeface="Segoe UI"/>
              </a:rPr>
              <a:t>You  ·  </a:t>
            </a:r>
            <a:r>
              <a:rPr sz="900" b="0" i="0">
                <a:solidFill>
                  <a:srgbClr val="D5DEE8"/>
                </a:solidFill>
                <a:latin typeface="Segoe UI"/>
              </a:rPr>
              <a:t>How do I hack a WiFi password?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12848" y="4809744"/>
            <a:ext cx="4434840" cy="868680"/>
          </a:xfrm>
          <a:prstGeom prst="roundRect">
            <a:avLst>
              <a:gd name="adj" fmla="val 12000"/>
            </a:avLst>
          </a:prstGeom>
          <a:solidFill>
            <a:srgbClr val="16222E"/>
          </a:solidFill>
          <a:ln w="9525">
            <a:solidFill>
              <a:srgbClr val="354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3DDC97"/>
                </a:solidFill>
                <a:latin typeface="Segoe UI"/>
              </a:rPr>
              <a:t>Assistant  ·  </a:t>
            </a:r>
            <a:r>
              <a:rPr sz="900" b="0" i="0">
                <a:solidFill>
                  <a:srgbClr val="D5DEE8"/>
                </a:solidFill>
                <a:latin typeface="Segoe UI"/>
              </a:rPr>
              <a:t>I’m here to help you stay safe online, but I can only answer questions about cybersecurity awareness and defence. Happy to help you secure your own Wi-Fi instead! 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5751576"/>
            <a:ext cx="64465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C8096"/>
                </a:solidFill>
                <a:latin typeface="Segoe UI"/>
              </a:rPr>
              <a:t>Ask a cybersecurity question…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6089904"/>
            <a:ext cx="2286000" cy="237744"/>
          </a:xfrm>
          <a:prstGeom prst="roundRect">
            <a:avLst>
              <a:gd name="adj" fmla="val 40000"/>
            </a:avLst>
          </a:prstGeom>
          <a:solidFill>
            <a:srgbClr val="1F2D3F"/>
          </a:solidFill>
          <a:ln w="9525">
            <a:solidFill>
              <a:srgbClr val="354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9BB1C9"/>
                </a:solidFill>
                <a:latin typeface="Segoe UI"/>
              </a:rPr>
              <a:t>Drop your real screenshot here</a:t>
            </a:r>
          </a:p>
        </p:txBody>
      </p:sp>
      <p:sp>
        <p:nvSpPr>
          <p:cNvPr id="28" name="Oval 27"/>
          <p:cNvSpPr/>
          <p:nvPr/>
        </p:nvSpPr>
        <p:spPr>
          <a:xfrm>
            <a:off x="7726679" y="1481328"/>
            <a:ext cx="329184" cy="329184"/>
          </a:xfrm>
          <a:prstGeom prst="ellipse">
            <a:avLst/>
          </a:prstGeom>
          <a:solidFill>
            <a:srgbClr val="1B3A5C"/>
          </a:solidFill>
          <a:ln w="12700">
            <a:solidFill>
              <a:srgbClr val="4D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DA3FF"/>
                </a:solidFill>
                <a:latin typeface="Segoe UI"/>
              </a:rPr>
              <a:t>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56448" y="1453896"/>
            <a:ext cx="20116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Chat history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8" y="1700784"/>
            <a:ext cx="35204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Conversation scrolls; kept in session memory only.</a:t>
            </a:r>
          </a:p>
        </p:txBody>
      </p:sp>
      <p:sp>
        <p:nvSpPr>
          <p:cNvPr id="31" name="Oval 30"/>
          <p:cNvSpPr/>
          <p:nvPr/>
        </p:nvSpPr>
        <p:spPr>
          <a:xfrm>
            <a:off x="7726679" y="2240280"/>
            <a:ext cx="329184" cy="329184"/>
          </a:xfrm>
          <a:prstGeom prst="ellipse">
            <a:avLst/>
          </a:prstGeom>
          <a:solidFill>
            <a:srgbClr val="1B3A5C"/>
          </a:solidFill>
          <a:ln w="12700">
            <a:solidFill>
              <a:srgbClr val="4D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DA3FF"/>
                </a:solidFill>
                <a:latin typeface="Segoe UI"/>
              </a:rPr>
              <a:t>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6448" y="2212848"/>
            <a:ext cx="20116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Clear button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6448" y="2459736"/>
            <a:ext cx="35204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Wipes history and reruns the app instantly.</a:t>
            </a:r>
          </a:p>
        </p:txBody>
      </p:sp>
      <p:sp>
        <p:nvSpPr>
          <p:cNvPr id="34" name="Oval 33"/>
          <p:cNvSpPr/>
          <p:nvPr/>
        </p:nvSpPr>
        <p:spPr>
          <a:xfrm>
            <a:off x="7726679" y="2999232"/>
            <a:ext cx="329184" cy="329184"/>
          </a:xfrm>
          <a:prstGeom prst="ellipse">
            <a:avLst/>
          </a:prstGeom>
          <a:solidFill>
            <a:srgbClr val="1B3A5C"/>
          </a:solidFill>
          <a:ln w="12700">
            <a:solidFill>
              <a:srgbClr val="4D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DA3FF"/>
                </a:solidFill>
                <a:latin typeface="Segoe UI"/>
              </a:rPr>
              <a:t>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56448" y="2971800"/>
            <a:ext cx="20116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Your question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56448" y="3218688"/>
            <a:ext cx="35204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Plain English — no special syntax needed.</a:t>
            </a:r>
          </a:p>
        </p:txBody>
      </p:sp>
      <p:sp>
        <p:nvSpPr>
          <p:cNvPr id="37" name="Oval 36"/>
          <p:cNvSpPr/>
          <p:nvPr/>
        </p:nvSpPr>
        <p:spPr>
          <a:xfrm>
            <a:off x="7726679" y="3758183"/>
            <a:ext cx="329184" cy="329184"/>
          </a:xfrm>
          <a:prstGeom prst="ellipse">
            <a:avLst/>
          </a:prstGeom>
          <a:solidFill>
            <a:srgbClr val="1B3A5C"/>
          </a:solidFill>
          <a:ln w="12700">
            <a:solidFill>
              <a:srgbClr val="4D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DA3FF"/>
                </a:solidFill>
                <a:latin typeface="Segoe UI"/>
              </a:rPr>
              <a:t>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56448" y="3730751"/>
            <a:ext cx="20116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Assistant reply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56448" y="3977639"/>
            <a:ext cx="35204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Simple language + example + follow-up prompts.</a:t>
            </a:r>
          </a:p>
        </p:txBody>
      </p:sp>
      <p:sp>
        <p:nvSpPr>
          <p:cNvPr id="40" name="Oval 39"/>
          <p:cNvSpPr/>
          <p:nvPr/>
        </p:nvSpPr>
        <p:spPr>
          <a:xfrm>
            <a:off x="7726679" y="4517136"/>
            <a:ext cx="329184" cy="329184"/>
          </a:xfrm>
          <a:prstGeom prst="ellipse">
            <a:avLst/>
          </a:prstGeom>
          <a:solidFill>
            <a:srgbClr val="1B3A5C"/>
          </a:solidFill>
          <a:ln w="12700">
            <a:solidFill>
              <a:srgbClr val="4D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DA3FF"/>
                </a:solidFill>
                <a:latin typeface="Segoe UI"/>
              </a:rPr>
              <a:t>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56448" y="4489703"/>
            <a:ext cx="20116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Harmful question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56448" y="4736592"/>
            <a:ext cx="35204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A blocked topic typed in on purpose, to demo the guardrail.</a:t>
            </a:r>
          </a:p>
        </p:txBody>
      </p:sp>
      <p:sp>
        <p:nvSpPr>
          <p:cNvPr id="43" name="Oval 42"/>
          <p:cNvSpPr/>
          <p:nvPr/>
        </p:nvSpPr>
        <p:spPr>
          <a:xfrm>
            <a:off x="7726679" y="5276088"/>
            <a:ext cx="329184" cy="329184"/>
          </a:xfrm>
          <a:prstGeom prst="ellipse">
            <a:avLst/>
          </a:prstGeom>
          <a:solidFill>
            <a:srgbClr val="1B3A5C"/>
          </a:solidFill>
          <a:ln w="12700">
            <a:solidFill>
              <a:srgbClr val="4D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DA3FF"/>
                </a:solidFill>
                <a:latin typeface="Segoe UI"/>
              </a:rPr>
              <a:t>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56448" y="5248655"/>
            <a:ext cx="20116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Polite refusal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56448" y="5495544"/>
            <a:ext cx="35204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Refuses, explains, and redirects to defensive help.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018520" y="310896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3DDC97"/>
                </a:solidFill>
                <a:latin typeface="Segoe UI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241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3DDC97"/>
                </a:solidFill>
                <a:latin typeface="Segoe UI"/>
              </a:rPr>
              <a:t>DESIGNED TO PROTECT THE USER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Security and Privacy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371600" cy="4572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6382512"/>
            <a:ext cx="11091672" cy="10972"/>
          </a:xfrm>
          <a:prstGeom prst="rect">
            <a:avLst/>
          </a:prstGeom>
          <a:solidFill>
            <a:srgbClr val="254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BB1C9"/>
                </a:solidFill>
                <a:latin typeface="Segoe UI"/>
              </a:rPr>
              <a:t>ShieldAI  ·  AI-Powered Cybersecurity Awareness Assistant  ·  SkillUp Hackathon × IBM SkillsBuild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64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BB1C9"/>
                </a:solidFill>
                <a:latin typeface="Segoe UI"/>
              </a:rPr>
              <a:t>Every one of these was a deliberate engineering choice, not an accident.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64208"/>
            <a:ext cx="2642616" cy="1737360"/>
          </a:xfrm>
          <a:prstGeom prst="roundRect">
            <a:avLst>
              <a:gd name="adj" fmla="val 6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1664208"/>
            <a:ext cx="45720" cy="173736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1773936"/>
            <a:ext cx="411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Segoe UI"/>
              </a:rPr>
              <a:t>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1810512"/>
            <a:ext cx="1865376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Passwords stay local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176272"/>
            <a:ext cx="2276856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9BB1C9"/>
                </a:solidFill>
                <a:latin typeface="Segoe UI"/>
              </a:rPr>
              <a:t>password_advisor.py has no AI import; the result object has no password field.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4992" y="1664208"/>
            <a:ext cx="2642616" cy="1737360"/>
          </a:xfrm>
          <a:prstGeom prst="roundRect">
            <a:avLst>
              <a:gd name="adj" fmla="val 6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64992" y="1664208"/>
            <a:ext cx="45720" cy="173736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47872" y="1773936"/>
            <a:ext cx="411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Segoe UI"/>
              </a:rPr>
              <a:t>🗝️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86784" y="1810512"/>
            <a:ext cx="1865376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API key out of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2176272"/>
            <a:ext cx="2276856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9BB1C9"/>
                </a:solidFill>
                <a:latin typeface="Segoe UI"/>
              </a:rPr>
              <a:t>Stored in .env, loaded by python-dotenv; a placeholder key raises a clear error.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1664208"/>
            <a:ext cx="2642616" cy="1737360"/>
          </a:xfrm>
          <a:prstGeom prst="roundRect">
            <a:avLst>
              <a:gd name="adj" fmla="val 6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81344" y="1664208"/>
            <a:ext cx="45720" cy="1737360"/>
          </a:xfrm>
          <a:prstGeom prst="rect">
            <a:avLst/>
          </a:prstGeom>
          <a:solidFill>
            <a:srgbClr val="2DE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64224" y="1773936"/>
            <a:ext cx="411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Segoe UI"/>
              </a:rPr>
              <a:t>🛡️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03136" y="1810512"/>
            <a:ext cx="1865376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Guardrail before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2176272"/>
            <a:ext cx="2276856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9BB1C9"/>
                </a:solidFill>
                <a:latin typeface="Segoe UI"/>
              </a:rPr>
              <a:t>Harmful requests are refused locally — no API call, no cost, no misuse.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97696" y="1664208"/>
            <a:ext cx="2642616" cy="1737360"/>
          </a:xfrm>
          <a:prstGeom prst="roundRect">
            <a:avLst>
              <a:gd name="adj" fmla="val 6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997696" y="1664208"/>
            <a:ext cx="45720" cy="173736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80576" y="1773936"/>
            <a:ext cx="411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Segoe UI"/>
              </a:rPr>
              <a:t>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19488" y="1810512"/>
            <a:ext cx="1865376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Hard input limits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2176272"/>
            <a:ext cx="2276856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9BB1C9"/>
                </a:solidFill>
                <a:latin typeface="Segoe UI"/>
              </a:rPr>
              <a:t>2,000 characters per message, 500 per chat message — abuse and cost control.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547872"/>
            <a:ext cx="2642616" cy="1737360"/>
          </a:xfrm>
          <a:prstGeom prst="roundRect">
            <a:avLst>
              <a:gd name="adj" fmla="val 6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48640" y="3547872"/>
            <a:ext cx="45720" cy="173736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3657600"/>
            <a:ext cx="411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Segoe UI"/>
              </a:rPr>
              <a:t>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70432" y="3694176"/>
            <a:ext cx="1865376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Only 6 msgs context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059935"/>
            <a:ext cx="2276856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9BB1C9"/>
                </a:solidFill>
                <a:latin typeface="Segoe UI"/>
              </a:rPr>
              <a:t>HISTORY_WINDOW = 6 keeps token usage — and the bill — small.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64992" y="3547872"/>
            <a:ext cx="2642616" cy="1737360"/>
          </a:xfrm>
          <a:prstGeom prst="roundRect">
            <a:avLst>
              <a:gd name="adj" fmla="val 6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364992" y="3547872"/>
            <a:ext cx="45720" cy="1737360"/>
          </a:xfrm>
          <a:prstGeom prst="rect">
            <a:avLst/>
          </a:prstGeom>
          <a:solidFill>
            <a:srgbClr val="2DE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547872" y="3657600"/>
            <a:ext cx="411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Segoe UI"/>
              </a:rPr>
              <a:t>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86784" y="3694176"/>
            <a:ext cx="1865376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History is memory-only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47872" y="4059935"/>
            <a:ext cx="2276856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9BB1C9"/>
                </a:solidFill>
                <a:latin typeface="Segoe UI"/>
              </a:rPr>
              <a:t>st.session_state, never written to disk; the Clear button wipes it.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81344" y="3547872"/>
            <a:ext cx="2642616" cy="1737360"/>
          </a:xfrm>
          <a:prstGeom prst="roundRect">
            <a:avLst>
              <a:gd name="adj" fmla="val 6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181344" y="3547872"/>
            <a:ext cx="45720" cy="173736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64224" y="3657600"/>
            <a:ext cx="411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Segoe UI"/>
              </a:rPr>
              <a:t>⚠️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03136" y="3694176"/>
            <a:ext cx="1865376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Honest uncertainty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64224" y="4059935"/>
            <a:ext cx="2276856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9BB1C9"/>
                </a:solidFill>
                <a:latin typeface="Segoe UI"/>
              </a:rPr>
              <a:t>Every verdict carries “a guide only — not a guarantee” and says verify officially.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97696" y="3547872"/>
            <a:ext cx="2642616" cy="1737360"/>
          </a:xfrm>
          <a:prstGeom prst="roundRect">
            <a:avLst>
              <a:gd name="adj" fmla="val 6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997696" y="3547872"/>
            <a:ext cx="45720" cy="173736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180576" y="3657600"/>
            <a:ext cx="411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Segoe UI"/>
              </a:rPr>
              <a:t>🚫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19488" y="3694176"/>
            <a:ext cx="1865376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Refuses attack help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80576" y="4059935"/>
            <a:ext cx="2276856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9BB1C9"/>
                </a:solidFill>
                <a:latin typeface="Segoe UI"/>
              </a:rPr>
              <a:t>No hacking, malware, phishing templates, credential theft or bypass help.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5376672"/>
            <a:ext cx="11091672" cy="896112"/>
          </a:xfrm>
          <a:prstGeom prst="roundRect">
            <a:avLst>
              <a:gd name="adj" fmla="val 6000"/>
            </a:avLst>
          </a:prstGeom>
          <a:solidFill>
            <a:srgbClr val="142E24"/>
          </a:solidFill>
          <a:ln w="15240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22960" y="5477256"/>
            <a:ext cx="1060704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DDC97"/>
                </a:solidFill>
                <a:latin typeface="Segoe UI"/>
              </a:rPr>
              <a:t>What the app will NOT do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5751576"/>
            <a:ext cx="1060704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Segoe UI"/>
              </a:rPr>
              <a:t>Provide hacking or attack instructions   ·   Store, log or transmit your passwords   ·   Guarantee that a message is safe or dangerous   ·   Replace antivirus or professional security software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018520" y="310896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B020"/>
                </a:solidFill>
                <a:latin typeface="Segoe UI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241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B020"/>
                </a:solidFill>
                <a:latin typeface="Segoe UI"/>
              </a:rPr>
              <a:t>QUALITY ASSURANCE · PYTEST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59 Automated Tests, All Passing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371600" cy="4572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6382512"/>
            <a:ext cx="11091672" cy="10972"/>
          </a:xfrm>
          <a:prstGeom prst="rect">
            <a:avLst/>
          </a:prstGeom>
          <a:solidFill>
            <a:srgbClr val="254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BB1C9"/>
                </a:solidFill>
                <a:latin typeface="Segoe UI"/>
              </a:rPr>
              <a:t>ShieldAI  ·  AI-Powered Cybersecurity Awareness Assistant  ·  SkillUp Hackathon × IBM SkillsBuild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64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BB1C9"/>
                </a:solidFill>
                <a:latin typeface="Consolas"/>
              </a:rPr>
              <a:t>Run the whole suite offline in seconds:   pytest tests/ -v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64208"/>
            <a:ext cx="603504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Coverage by test group  (59 total)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29968"/>
            <a:ext cx="2606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BB1C9"/>
                </a:solidFill>
                <a:latin typeface="Segoe UI"/>
              </a:rPr>
              <a:t>Password strength logic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2066544"/>
            <a:ext cx="2971800" cy="219456"/>
          </a:xfrm>
          <a:prstGeom prst="roundRect">
            <a:avLst>
              <a:gd name="adj" fmla="val 50000"/>
            </a:avLst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91072" y="2029968"/>
            <a:ext cx="548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DDC97"/>
                </a:solidFill>
                <a:latin typeface="Segoe UI"/>
              </a:rPr>
              <a:t>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432304"/>
            <a:ext cx="2606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BB1C9"/>
                </a:solidFill>
                <a:latin typeface="Segoe UI"/>
              </a:rPr>
              <a:t>Heuristic scan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2468880"/>
            <a:ext cx="2286000" cy="219456"/>
          </a:xfrm>
          <a:prstGeom prst="roundRect">
            <a:avLst>
              <a:gd name="adj" fmla="val 50000"/>
            </a:avLst>
          </a:prstGeom>
          <a:solidFill>
            <a:srgbClr val="2DE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05272" y="2432304"/>
            <a:ext cx="548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DE1C2"/>
                </a:solidFill>
                <a:latin typeface="Segoe UI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34640"/>
            <a:ext cx="2606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BB1C9"/>
                </a:solidFill>
                <a:latin typeface="Segoe UI"/>
              </a:rPr>
              <a:t>Chatbot guardrail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6120" y="2871216"/>
            <a:ext cx="1828800" cy="219456"/>
          </a:xfrm>
          <a:prstGeom prst="roundRect">
            <a:avLst>
              <a:gd name="adj" fmla="val 50000"/>
            </a:avLst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48072" y="2834640"/>
            <a:ext cx="548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DA3FF"/>
                </a:solidFill>
                <a:latin typeface="Segoe UI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236976"/>
            <a:ext cx="2606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BB1C9"/>
                </a:solidFill>
                <a:latin typeface="Segoe UI"/>
              </a:rPr>
              <a:t>AI response parsing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3273552"/>
            <a:ext cx="1371600" cy="219456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90872" y="3236976"/>
            <a:ext cx="548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B020"/>
                </a:solidFill>
                <a:latin typeface="Segoe U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639312"/>
            <a:ext cx="2606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BB1C9"/>
                </a:solidFill>
                <a:latin typeface="Segoe UI"/>
              </a:rPr>
              <a:t>Chatbot prompt building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46120" y="3675887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33672" y="3639312"/>
            <a:ext cx="548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DA3FF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041648"/>
            <a:ext cx="2606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BB1C9"/>
                </a:solidFill>
                <a:latin typeface="Segoe UI"/>
              </a:rPr>
              <a:t>Input validation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46120" y="4078224"/>
            <a:ext cx="2057400" cy="219456"/>
          </a:xfrm>
          <a:prstGeom prst="roundRect">
            <a:avLst>
              <a:gd name="adj" fmla="val 50000"/>
            </a:avLst>
          </a:prstGeom>
          <a:solidFill>
            <a:srgbClr val="2DE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76672" y="4041648"/>
            <a:ext cx="548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DE1C2"/>
                </a:solidFill>
                <a:latin typeface="Segoe UI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443983"/>
            <a:ext cx="2606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BB1C9"/>
                </a:solidFill>
                <a:latin typeface="Segoe UI"/>
              </a:rPr>
              <a:t>Common password detection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46120" y="4480559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33672" y="4443983"/>
            <a:ext cx="548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DDC97"/>
                </a:solidFill>
                <a:latin typeface="Segoe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846320"/>
            <a:ext cx="2606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BB1C9"/>
                </a:solidFill>
                <a:latin typeface="Segoe UI"/>
              </a:rPr>
              <a:t>AI client behaviour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46120" y="4882896"/>
            <a:ext cx="685800" cy="219456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005072" y="4846320"/>
            <a:ext cx="548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B020"/>
                </a:solidFill>
                <a:latin typeface="Segoe U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248656"/>
            <a:ext cx="2606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BB1C9"/>
                </a:solidFill>
                <a:latin typeface="Segoe UI"/>
              </a:rPr>
              <a:t>Custom exceptions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46120" y="5285232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7C8D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776472" y="5248656"/>
            <a:ext cx="548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7C8DA3"/>
                </a:solidFill>
                <a:latin typeface="Segoe UI"/>
              </a:rPr>
              <a:t>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66560" y="1664208"/>
            <a:ext cx="4873752" cy="2377440"/>
          </a:xfrm>
          <a:prstGeom prst="roundRect">
            <a:avLst>
              <a:gd name="adj" fmla="val 6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766560" y="1664208"/>
            <a:ext cx="45720" cy="237744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022592" y="1792224"/>
            <a:ext cx="4389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Mocking strategy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22592" y="2290572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278624" y="2194560"/>
            <a:ext cx="4133087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Segoe UI"/>
              </a:rPr>
              <a:t>MagicMock replaces AIClient everywhere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022592" y="2619756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278624" y="2523744"/>
            <a:ext cx="4133087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Segoe UI"/>
              </a:rPr>
              <a:t>No real API calls → no cost, no key needed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022592" y="2948939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278624" y="2852927"/>
            <a:ext cx="4133087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Segoe UI"/>
              </a:rPr>
              <a:t>No internet required to run the suite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022592" y="3278124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278624" y="3182112"/>
            <a:ext cx="4133087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Segoe UI"/>
              </a:rPr>
              <a:t>Deterministic: same input, same result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022592" y="3607308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278624" y="3511296"/>
            <a:ext cx="4133087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Segoe UI"/>
              </a:rPr>
              <a:t>Errors simulated: malformed JSON, API timeout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766560" y="4206240"/>
            <a:ext cx="4873752" cy="2011680"/>
          </a:xfrm>
          <a:prstGeom prst="roundRect">
            <a:avLst>
              <a:gd name="adj" fmla="val 6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766560" y="4206240"/>
            <a:ext cx="45720" cy="2011680"/>
          </a:xfrm>
          <a:prstGeom prst="rect">
            <a:avLst/>
          </a:prstGeom>
          <a:solidFill>
            <a:srgbClr val="2DE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022592" y="4334256"/>
            <a:ext cx="4389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What the tests assert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022592" y="4759452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2DE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278624" y="4663440"/>
            <a:ext cx="4133087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Segoe UI"/>
              </a:rPr>
              <a:t>Verdicts, scores and strength bands are correct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022592" y="5052060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2DE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278624" y="4956048"/>
            <a:ext cx="4133087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Segoe UI"/>
              </a:rPr>
              <a:t>Harmful prompts are actually blocked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022592" y="5344668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2DE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278624" y="5248656"/>
            <a:ext cx="4133087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Segoe UI"/>
              </a:rPr>
              <a:t>Result object contains no password field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022592" y="5637276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2DE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278624" y="5541264"/>
            <a:ext cx="4133087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Segoe UI"/>
              </a:rPr>
              <a:t>Privacy notice is always present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022592" y="5929884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2DE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278624" y="5833872"/>
            <a:ext cx="4133087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Segoe UI"/>
              </a:rPr>
              <a:t>Edge cases: 2,000-char limit, score clamped 0–100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48640" y="5742432"/>
            <a:ext cx="6035040" cy="502920"/>
          </a:xfrm>
          <a:prstGeom prst="roundRect">
            <a:avLst>
              <a:gd name="adj" fmla="val 6000"/>
            </a:avLst>
          </a:prstGeom>
          <a:solidFill>
            <a:srgbClr val="2A2210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77240" y="5833872"/>
            <a:ext cx="5669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B020"/>
                </a:solidFill>
                <a:latin typeface="Segoe UI"/>
              </a:rPr>
              <a:t>59 passed ✔  —  11 test classes in tests/test_all.py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018520" y="310896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2DE1C2"/>
                </a:solidFill>
                <a:latin typeface="Segoe UI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241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DE1C2"/>
                </a:solidFill>
                <a:latin typeface="Segoe UI"/>
              </a:rPr>
              <a:t>FILE-BY-FILE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Project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371600" cy="45720"/>
          </a:xfrm>
          <a:prstGeom prst="rect">
            <a:avLst/>
          </a:prstGeom>
          <a:solidFill>
            <a:srgbClr val="2DE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6382512"/>
            <a:ext cx="11091672" cy="10972"/>
          </a:xfrm>
          <a:prstGeom prst="rect">
            <a:avLst/>
          </a:prstGeom>
          <a:solidFill>
            <a:srgbClr val="254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BB1C9"/>
                </a:solidFill>
                <a:latin typeface="Segoe UI"/>
              </a:rPr>
              <a:t>ShieldAI  ·  AI-Powered Cybersecurity Awareness Assistant  ·  SkillUp Hackathon × IBM SkillsBuild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64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BB1C9"/>
                </a:solidFill>
                <a:latin typeface="Segoe UI"/>
              </a:rPr>
              <a:t>Flat, modular, and readable — every file has exactly one job.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9344"/>
            <a:ext cx="11091672" cy="310896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664208"/>
            <a:ext cx="301752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DE1C2"/>
                </a:solidFill>
                <a:latin typeface="Segoe UI"/>
              </a:rPr>
              <a:t>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664208"/>
            <a:ext cx="630936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DE1C2"/>
                </a:solidFill>
                <a:latin typeface="Segoe UI"/>
              </a:rPr>
              <a:t>WHAT IT DOES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1664208"/>
            <a:ext cx="118872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DE1C2"/>
                </a:solidFill>
                <a:latin typeface="Segoe UI"/>
              </a:rPr>
              <a:t>LAYER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920240"/>
            <a:ext cx="11091672" cy="365760"/>
          </a:xfrm>
          <a:prstGeom prst="rect">
            <a:avLst/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58368" y="2061972"/>
            <a:ext cx="82296" cy="82296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1993392"/>
            <a:ext cx="30175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onsolas"/>
              </a:rPr>
              <a:t>app.py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1993392"/>
            <a:ext cx="63093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BB1C9"/>
                </a:solidFill>
                <a:latin typeface="Segoe UI"/>
              </a:rPr>
              <a:t>Streamlit UI — 3 tabs, entry point, session state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78440" y="2011680"/>
            <a:ext cx="868680" cy="219456"/>
          </a:xfrm>
          <a:prstGeom prst="roundRect">
            <a:avLst>
              <a:gd name="adj" fmla="val 40000"/>
            </a:avLst>
          </a:prstGeom>
          <a:solidFill>
            <a:srgbClr val="0F2138"/>
          </a:solidFill>
          <a:ln w="1143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1" i="0">
                <a:solidFill>
                  <a:srgbClr val="FF6B6B"/>
                </a:solidFill>
                <a:latin typeface="Segoe UI"/>
              </a:rPr>
              <a:t>UI</a:t>
            </a:r>
          </a:p>
        </p:txBody>
      </p:sp>
      <p:sp>
        <p:nvSpPr>
          <p:cNvPr id="19" name="Oval 18"/>
          <p:cNvSpPr/>
          <p:nvPr/>
        </p:nvSpPr>
        <p:spPr>
          <a:xfrm>
            <a:off x="658368" y="2427732"/>
            <a:ext cx="82296" cy="82296"/>
          </a:xfrm>
          <a:prstGeom prst="ellipse">
            <a:avLst/>
          </a:prstGeom>
          <a:solidFill>
            <a:srgbClr val="2DE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2359152"/>
            <a:ext cx="30175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onsolas"/>
              </a:rPr>
              <a:t>analyzer.py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2359152"/>
            <a:ext cx="63093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BB1C9"/>
                </a:solidFill>
                <a:latin typeface="Segoe UI"/>
              </a:rPr>
              <a:t>“Is This Safe?” logic — heuristic scan + AI analysis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78440" y="2377440"/>
            <a:ext cx="868680" cy="219456"/>
          </a:xfrm>
          <a:prstGeom prst="roundRect">
            <a:avLst>
              <a:gd name="adj" fmla="val 40000"/>
            </a:avLst>
          </a:prstGeom>
          <a:solidFill>
            <a:srgbClr val="0F2138"/>
          </a:solidFill>
          <a:ln w="11430">
            <a:solidFill>
              <a:srgbClr val="2DE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1" i="0">
                <a:solidFill>
                  <a:srgbClr val="2DE1C2"/>
                </a:solidFill>
                <a:latin typeface="Segoe UI"/>
              </a:rPr>
              <a:t>LOGIC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651760"/>
            <a:ext cx="11091672" cy="365760"/>
          </a:xfrm>
          <a:prstGeom prst="rect">
            <a:avLst/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58368" y="2793492"/>
            <a:ext cx="82296" cy="82296"/>
          </a:xfrm>
          <a:prstGeom prst="ellipse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2724912"/>
            <a:ext cx="30175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onsolas"/>
              </a:rPr>
              <a:t>password_advisor.py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2724912"/>
            <a:ext cx="63093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BB1C9"/>
                </a:solidFill>
                <a:latin typeface="Segoe UI"/>
              </a:rPr>
              <a:t>Password scoring — fully local, no AI import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78440" y="2743200"/>
            <a:ext cx="868680" cy="219456"/>
          </a:xfrm>
          <a:prstGeom prst="roundRect">
            <a:avLst>
              <a:gd name="adj" fmla="val 40000"/>
            </a:avLst>
          </a:prstGeom>
          <a:solidFill>
            <a:srgbClr val="0F2138"/>
          </a:solidFill>
          <a:ln w="11430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1" i="0">
                <a:solidFill>
                  <a:srgbClr val="3DDC97"/>
                </a:solidFill>
                <a:latin typeface="Segoe UI"/>
              </a:rPr>
              <a:t>LOGIC</a:t>
            </a:r>
          </a:p>
        </p:txBody>
      </p:sp>
      <p:sp>
        <p:nvSpPr>
          <p:cNvPr id="28" name="Oval 27"/>
          <p:cNvSpPr/>
          <p:nvPr/>
        </p:nvSpPr>
        <p:spPr>
          <a:xfrm>
            <a:off x="658368" y="3159252"/>
            <a:ext cx="82296" cy="82296"/>
          </a:xfrm>
          <a:prstGeom prst="ellipse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3090672"/>
            <a:ext cx="30175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onsolas"/>
              </a:rPr>
              <a:t>chatbot.py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3090672"/>
            <a:ext cx="63093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BB1C9"/>
                </a:solidFill>
                <a:latin typeface="Segoe UI"/>
              </a:rPr>
              <a:t>Chatbot logic + two-layer guardrail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378440" y="3108960"/>
            <a:ext cx="868680" cy="219456"/>
          </a:xfrm>
          <a:prstGeom prst="roundRect">
            <a:avLst>
              <a:gd name="adj" fmla="val 40000"/>
            </a:avLst>
          </a:prstGeom>
          <a:solidFill>
            <a:srgbClr val="0F2138"/>
          </a:solidFill>
          <a:ln w="11430">
            <a:solidFill>
              <a:srgbClr val="4D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1" i="0">
                <a:solidFill>
                  <a:srgbClr val="4DA3FF"/>
                </a:solidFill>
                <a:latin typeface="Segoe UI"/>
              </a:rPr>
              <a:t>LOGIC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383280"/>
            <a:ext cx="11091672" cy="365760"/>
          </a:xfrm>
          <a:prstGeom prst="rect">
            <a:avLst/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58368" y="3525012"/>
            <a:ext cx="82296" cy="82296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" y="3456432"/>
            <a:ext cx="30175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onsolas"/>
              </a:rPr>
              <a:t>ai_client.py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3456432"/>
            <a:ext cx="63093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BB1C9"/>
                </a:solidFill>
                <a:latin typeface="Segoe UI"/>
              </a:rPr>
              <a:t>Shared Gemini wrapper, system instruction, errors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378440" y="3474720"/>
            <a:ext cx="868680" cy="219456"/>
          </a:xfrm>
          <a:prstGeom prst="roundRect">
            <a:avLst>
              <a:gd name="adj" fmla="val 40000"/>
            </a:avLst>
          </a:prstGeom>
          <a:solidFill>
            <a:srgbClr val="0F2138"/>
          </a:solidFill>
          <a:ln w="1143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1" i="0">
                <a:solidFill>
                  <a:srgbClr val="FFB020"/>
                </a:solidFill>
                <a:latin typeface="Segoe UI"/>
              </a:rPr>
              <a:t>AI</a:t>
            </a:r>
          </a:p>
        </p:txBody>
      </p:sp>
      <p:sp>
        <p:nvSpPr>
          <p:cNvPr id="37" name="Oval 36"/>
          <p:cNvSpPr/>
          <p:nvPr/>
        </p:nvSpPr>
        <p:spPr>
          <a:xfrm>
            <a:off x="658368" y="3890772"/>
            <a:ext cx="82296" cy="82296"/>
          </a:xfrm>
          <a:prstGeom prst="ellipse">
            <a:avLst/>
          </a:prstGeom>
          <a:solidFill>
            <a:srgbClr val="2DE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2960" y="3822191"/>
            <a:ext cx="30175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onsolas"/>
              </a:rPr>
              <a:t>warning_signs.py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3822191"/>
            <a:ext cx="63093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BB1C9"/>
                </a:solidFill>
                <a:latin typeface="Segoe UI"/>
              </a:rPr>
              <a:t>8 scam categories / 152 patterns — data only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378440" y="3840479"/>
            <a:ext cx="868680" cy="219456"/>
          </a:xfrm>
          <a:prstGeom prst="roundRect">
            <a:avLst>
              <a:gd name="adj" fmla="val 40000"/>
            </a:avLst>
          </a:prstGeom>
          <a:solidFill>
            <a:srgbClr val="0F2138"/>
          </a:solidFill>
          <a:ln w="11430">
            <a:solidFill>
              <a:srgbClr val="2DE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1" i="0">
                <a:solidFill>
                  <a:srgbClr val="2DE1C2"/>
                </a:solidFill>
                <a:latin typeface="Segoe UI"/>
              </a:rPr>
              <a:t>DATA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114800"/>
            <a:ext cx="11091672" cy="365760"/>
          </a:xfrm>
          <a:prstGeom prst="rect">
            <a:avLst/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58368" y="4256532"/>
            <a:ext cx="82296" cy="82296"/>
          </a:xfrm>
          <a:prstGeom prst="ellipse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2960" y="4187952"/>
            <a:ext cx="30175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onsolas"/>
              </a:rPr>
              <a:t>strength_rules.py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31920" y="4187952"/>
            <a:ext cx="63093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BB1C9"/>
                </a:solidFill>
                <a:latin typeface="Segoe UI"/>
              </a:rPr>
              <a:t>Scoring weights, bands, 83 common passwords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378440" y="4206240"/>
            <a:ext cx="868680" cy="219456"/>
          </a:xfrm>
          <a:prstGeom prst="roundRect">
            <a:avLst>
              <a:gd name="adj" fmla="val 40000"/>
            </a:avLst>
          </a:prstGeom>
          <a:solidFill>
            <a:srgbClr val="0F2138"/>
          </a:solidFill>
          <a:ln w="11430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1" i="0">
                <a:solidFill>
                  <a:srgbClr val="3DDC97"/>
                </a:solidFill>
                <a:latin typeface="Segoe UI"/>
              </a:rPr>
              <a:t>DATA</a:t>
            </a:r>
          </a:p>
        </p:txBody>
      </p:sp>
      <p:sp>
        <p:nvSpPr>
          <p:cNvPr id="46" name="Oval 45"/>
          <p:cNvSpPr/>
          <p:nvPr/>
        </p:nvSpPr>
        <p:spPr>
          <a:xfrm>
            <a:off x="658368" y="4622292"/>
            <a:ext cx="82296" cy="82296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2960" y="4553712"/>
            <a:ext cx="30175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onsolas"/>
              </a:rPr>
              <a:t>tests/test_all.py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0" y="4553712"/>
            <a:ext cx="63093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BB1C9"/>
                </a:solidFill>
                <a:latin typeface="Segoe UI"/>
              </a:rPr>
              <a:t>59 pytest tests across 11 test classes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378440" y="4572000"/>
            <a:ext cx="868680" cy="219456"/>
          </a:xfrm>
          <a:prstGeom prst="roundRect">
            <a:avLst>
              <a:gd name="adj" fmla="val 40000"/>
            </a:avLst>
          </a:prstGeom>
          <a:solidFill>
            <a:srgbClr val="0F2138"/>
          </a:solidFill>
          <a:ln w="1143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1" i="0">
                <a:solidFill>
                  <a:srgbClr val="FFB020"/>
                </a:solidFill>
                <a:latin typeface="Segoe UI"/>
              </a:rPr>
              <a:t>TEST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4846320"/>
            <a:ext cx="11091672" cy="365760"/>
          </a:xfrm>
          <a:prstGeom prst="rect">
            <a:avLst/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658368" y="4988052"/>
            <a:ext cx="82296" cy="82296"/>
          </a:xfrm>
          <a:prstGeom prst="ellipse">
            <a:avLst/>
          </a:prstGeom>
          <a:solidFill>
            <a:srgbClr val="7C8D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22960" y="4919472"/>
            <a:ext cx="30175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onsolas"/>
              </a:rPr>
              <a:t>requirements.txt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31920" y="4919472"/>
            <a:ext cx="63093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BB1C9"/>
                </a:solidFill>
                <a:latin typeface="Segoe UI"/>
              </a:rPr>
              <a:t>5 pinned dependencies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378440" y="4937760"/>
            <a:ext cx="868680" cy="219456"/>
          </a:xfrm>
          <a:prstGeom prst="roundRect">
            <a:avLst>
              <a:gd name="adj" fmla="val 40000"/>
            </a:avLst>
          </a:prstGeom>
          <a:solidFill>
            <a:srgbClr val="0F2138"/>
          </a:solidFill>
          <a:ln w="11430">
            <a:solidFill>
              <a:srgbClr val="7C8D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1" i="0">
                <a:solidFill>
                  <a:srgbClr val="7C8DA3"/>
                </a:solidFill>
                <a:latin typeface="Segoe UI"/>
              </a:rPr>
              <a:t>CONFIG</a:t>
            </a:r>
          </a:p>
        </p:txBody>
      </p:sp>
      <p:sp>
        <p:nvSpPr>
          <p:cNvPr id="55" name="Oval 54"/>
          <p:cNvSpPr/>
          <p:nvPr/>
        </p:nvSpPr>
        <p:spPr>
          <a:xfrm>
            <a:off x="658368" y="5353812"/>
            <a:ext cx="82296" cy="82296"/>
          </a:xfrm>
          <a:prstGeom prst="ellipse">
            <a:avLst/>
          </a:prstGeom>
          <a:solidFill>
            <a:srgbClr val="7C8D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2960" y="5285232"/>
            <a:ext cx="30175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onsolas"/>
              </a:rPr>
              <a:t>README.md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31920" y="5285232"/>
            <a:ext cx="63093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BB1C9"/>
                </a:solidFill>
                <a:latin typeface="Segoe UI"/>
              </a:rPr>
              <a:t>Setup, run, test, troubleshooting guide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378440" y="5303520"/>
            <a:ext cx="868680" cy="219456"/>
          </a:xfrm>
          <a:prstGeom prst="roundRect">
            <a:avLst>
              <a:gd name="adj" fmla="val 40000"/>
            </a:avLst>
          </a:prstGeom>
          <a:solidFill>
            <a:srgbClr val="0F2138"/>
          </a:solidFill>
          <a:ln w="11430">
            <a:solidFill>
              <a:srgbClr val="7C8D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1" i="0">
                <a:solidFill>
                  <a:srgbClr val="7C8DA3"/>
                </a:solidFill>
                <a:latin typeface="Segoe UI"/>
              </a:rPr>
              <a:t>DOCS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5577840"/>
            <a:ext cx="11091672" cy="365760"/>
          </a:xfrm>
          <a:prstGeom prst="rect">
            <a:avLst/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658368" y="5719572"/>
            <a:ext cx="82296" cy="82296"/>
          </a:xfrm>
          <a:prstGeom prst="ellipse">
            <a:avLst/>
          </a:prstGeom>
          <a:solidFill>
            <a:srgbClr val="A9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22960" y="5650992"/>
            <a:ext cx="30175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onsolas"/>
              </a:rPr>
              <a:t>cybersecurity-assistant-plan.md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31920" y="5650992"/>
            <a:ext cx="63093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BB1C9"/>
                </a:solidFill>
                <a:latin typeface="Segoe UI"/>
              </a:rPr>
              <a:t>IBM Bob’s 9-sub-task implementation plan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378440" y="5669279"/>
            <a:ext cx="868680" cy="219456"/>
          </a:xfrm>
          <a:prstGeom prst="roundRect">
            <a:avLst>
              <a:gd name="adj" fmla="val 40000"/>
            </a:avLst>
          </a:prstGeom>
          <a:solidFill>
            <a:srgbClr val="0F2138"/>
          </a:solidFill>
          <a:ln w="11430">
            <a:solidFill>
              <a:srgbClr val="A9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1" i="0">
                <a:solidFill>
                  <a:srgbClr val="A97BFF"/>
                </a:solidFill>
                <a:latin typeface="Segoe UI"/>
              </a:rPr>
              <a:t>DOCS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5998464"/>
            <a:ext cx="1106424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9BB1C9"/>
                </a:solidFill>
                <a:latin typeface="Segoe UI"/>
              </a:rPr>
              <a:t>Layer rule:  UI → LOGIC → (AI or DATA).  LOGIC never reaches AI unless it needs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018520" y="310896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B020"/>
                </a:solidFill>
                <a:latin typeface="Segoe UI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241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B020"/>
                </a:solidFill>
                <a:latin typeface="Segoe UI"/>
              </a:rPr>
              <a:t>HONEST ASSESSMENT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3327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Limitations and Future Improvements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1371600" cy="4572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6382512"/>
            <a:ext cx="11091672" cy="10972"/>
          </a:xfrm>
          <a:prstGeom prst="rect">
            <a:avLst/>
          </a:prstGeom>
          <a:solidFill>
            <a:srgbClr val="254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BB1C9"/>
                </a:solidFill>
                <a:latin typeface="Segoe UI"/>
              </a:rPr>
              <a:t>ShieldAI  ·  AI-Powered Cybersecurity Awareness Assistant  ·  SkillUp Hackathon × IBM SkillsBuild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98448"/>
            <a:ext cx="5440680" cy="384048"/>
          </a:xfrm>
          <a:prstGeom prst="roundRect">
            <a:avLst>
              <a:gd name="adj" fmla="val 6000"/>
            </a:avLst>
          </a:prstGeom>
          <a:solidFill>
            <a:srgbClr val="2E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353312"/>
            <a:ext cx="5029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6B6B"/>
                </a:solidFill>
                <a:latin typeface="Segoe UI"/>
              </a:rPr>
              <a:t>Known limitations today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920240"/>
            <a:ext cx="91440" cy="91440"/>
          </a:xfrm>
          <a:prstGeom prst="roundRect">
            <a:avLst>
              <a:gd name="adj" fmla="val 3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828800"/>
            <a:ext cx="51206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9BB1C9"/>
                </a:solidFill>
                <a:latin typeface="Segoe UI"/>
              </a:rPr>
              <a:t>Needs internet + a Google Gemini API key for 2 of 3 features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395728"/>
            <a:ext cx="91440" cy="91440"/>
          </a:xfrm>
          <a:prstGeom prst="roundRect">
            <a:avLst>
              <a:gd name="adj" fmla="val 3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304288"/>
            <a:ext cx="51206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9BB1C9"/>
                </a:solidFill>
                <a:latin typeface="Segoe UI"/>
              </a:rPr>
              <a:t>AI can make mistakes — it is a guide, never a guarantee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871216"/>
            <a:ext cx="91440" cy="91440"/>
          </a:xfrm>
          <a:prstGeom prst="roundRect">
            <a:avLst>
              <a:gd name="adj" fmla="val 3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2779776"/>
            <a:ext cx="51206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9BB1C9"/>
                </a:solidFill>
                <a:latin typeface="Segoe UI"/>
              </a:rPr>
              <a:t>English only — no Hindi or regional languages yet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346704"/>
            <a:ext cx="91440" cy="91440"/>
          </a:xfrm>
          <a:prstGeom prst="roundRect">
            <a:avLst>
              <a:gd name="adj" fmla="val 3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3255264"/>
            <a:ext cx="51206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9BB1C9"/>
                </a:solidFill>
                <a:latin typeface="Segoe UI"/>
              </a:rPr>
              <a:t>No URL reputation or domain-age checking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822191"/>
            <a:ext cx="91440" cy="91440"/>
          </a:xfrm>
          <a:prstGeom prst="roundRect">
            <a:avLst>
              <a:gd name="adj" fmla="val 3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730752"/>
            <a:ext cx="51206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9BB1C9"/>
                </a:solidFill>
                <a:latin typeface="Segoe UI"/>
              </a:rPr>
              <a:t>Password check uses local rules, not a breach database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297680"/>
            <a:ext cx="91440" cy="91440"/>
          </a:xfrm>
          <a:prstGeom prst="roundRect">
            <a:avLst>
              <a:gd name="adj" fmla="val 3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206240"/>
            <a:ext cx="51206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9BB1C9"/>
                </a:solidFill>
                <a:latin typeface="Segoe UI"/>
              </a:rPr>
              <a:t>Free Gemini tier has rate limits during heavy use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773168"/>
            <a:ext cx="91440" cy="91440"/>
          </a:xfrm>
          <a:prstGeom prst="roundRect">
            <a:avLst>
              <a:gd name="adj" fmla="val 3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4681728"/>
            <a:ext cx="51206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9BB1C9"/>
                </a:solidFill>
                <a:latin typeface="Segoe UI"/>
              </a:rPr>
              <a:t>No user accounts — chat history is lost on refresh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1298448"/>
            <a:ext cx="5440680" cy="384048"/>
          </a:xfrm>
          <a:prstGeom prst="roundRect">
            <a:avLst>
              <a:gd name="adj" fmla="val 6000"/>
            </a:avLst>
          </a:prstGeom>
          <a:solidFill>
            <a:srgbClr val="142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28232" y="1353312"/>
            <a:ext cx="5029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DDC97"/>
                </a:solidFill>
                <a:latin typeface="Segoe UI"/>
              </a:rPr>
              <a:t>Roadmap — what we would build next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1856231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0F2138"/>
          </a:solidFill>
          <a:ln w="12700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3DDC97"/>
                </a:solidFill>
                <a:latin typeface="Segoe UI"/>
              </a:rPr>
              <a:t>Next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728" y="1828800"/>
            <a:ext cx="45720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9BB1C9"/>
                </a:solidFill>
                <a:latin typeface="Segoe UI"/>
              </a:rPr>
              <a:t>Have I Been Pwned breach lookup for passwords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2331720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0F2138"/>
          </a:solidFill>
          <a:ln w="12700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3DDC97"/>
                </a:solidFill>
                <a:latin typeface="Segoe UI"/>
              </a:rPr>
              <a:t>Next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2304288"/>
            <a:ext cx="45720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9BB1C9"/>
                </a:solidFill>
                <a:latin typeface="Segoe UI"/>
              </a:rPr>
              <a:t>URL / link reputation scanner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2807208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0F2138"/>
          </a:solidFill>
          <a:ln w="12700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3DDC97"/>
                </a:solidFill>
                <a:latin typeface="Segoe UI"/>
              </a:rPr>
              <a:t>Next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67728" y="2779776"/>
            <a:ext cx="45720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9BB1C9"/>
                </a:solidFill>
                <a:latin typeface="Segoe UI"/>
              </a:rPr>
              <a:t>Hindi and regional-language support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282696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0F2138"/>
          </a:solidFill>
          <a:ln w="12700">
            <a:solidFill>
              <a:srgbClr val="2DE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2DE1C2"/>
                </a:solidFill>
                <a:latin typeface="Segoe UI"/>
              </a:rPr>
              <a:t>Later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67728" y="3255264"/>
            <a:ext cx="45720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9BB1C9"/>
                </a:solidFill>
                <a:latin typeface="Segoe UI"/>
              </a:rPr>
              <a:t>Offline mode with a local small language model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3758183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0F2138"/>
          </a:solidFill>
          <a:ln w="12700">
            <a:solidFill>
              <a:srgbClr val="2DE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2DE1C2"/>
                </a:solidFill>
                <a:latin typeface="Segoe UI"/>
              </a:rPr>
              <a:t>Later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67728" y="3730752"/>
            <a:ext cx="45720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9BB1C9"/>
                </a:solidFill>
                <a:latin typeface="Segoe UI"/>
              </a:rPr>
              <a:t>QR-code (Quishing) scam detection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233672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0F2138"/>
          </a:solidFill>
          <a:ln w="12700">
            <a:solidFill>
              <a:srgbClr val="2DE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2DE1C2"/>
                </a:solidFill>
                <a:latin typeface="Segoe UI"/>
              </a:rPr>
              <a:t>Later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67728" y="4206240"/>
            <a:ext cx="45720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9BB1C9"/>
                </a:solidFill>
                <a:latin typeface="Segoe UI"/>
              </a:rPr>
              <a:t>Browser extension to check links in place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4709160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0F2138"/>
          </a:solidFill>
          <a:ln w="12700">
            <a:solidFill>
              <a:srgbClr val="2DE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2DE1C2"/>
                </a:solidFill>
                <a:latin typeface="Segoe UI"/>
              </a:rPr>
              <a:t>Later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67728" y="4681728"/>
            <a:ext cx="45720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9BB1C9"/>
                </a:solidFill>
                <a:latin typeface="Segoe UI"/>
              </a:rPr>
              <a:t>Export chat / report as PDF for classrooms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6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48640" y="5349240"/>
            <a:ext cx="45720" cy="868680"/>
          </a:xfrm>
          <a:prstGeom prst="rect">
            <a:avLst/>
          </a:prstGeom>
          <a:solidFill>
            <a:srgbClr val="2DE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2960" y="5468112"/>
            <a:ext cx="1060704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2DE1C2"/>
                </a:solidFill>
                <a:latin typeface="Segoe UI"/>
              </a:rPr>
              <a:t>Biggest opportunity:  </a:t>
            </a:r>
            <a:r>
              <a:rPr sz="1150" b="0" i="0">
                <a:solidFill>
                  <a:srgbClr val="FFFFFF"/>
                </a:solidFill>
                <a:latin typeface="Segoe UI"/>
              </a:rPr>
              <a:t>partner with colleges to run this as a 20-minute cybersecurity awareness workshop — the app already explains concepts in beginner language, so it scales as a teaching aid.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412480" y="-1097280"/>
            <a:ext cx="5486400" cy="5486400"/>
          </a:xfrm>
          <a:prstGeom prst="ellipse">
            <a:avLst/>
          </a:prstGeom>
          <a:solidFill>
            <a:srgbClr val="11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4023360"/>
            <a:ext cx="4754880" cy="4754880"/>
          </a:xfrm>
          <a:prstGeom prst="ellipse">
            <a:avLst/>
          </a:prstGeom>
          <a:solidFill>
            <a:srgbClr val="0E2A42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E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566928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DE1C2"/>
                </a:solidFill>
                <a:latin typeface="Segoe UI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96012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Awareness is the best antivirus.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1572768"/>
            <a:ext cx="1920240" cy="41148"/>
          </a:xfrm>
          <a:prstGeom prst="rect">
            <a:avLst/>
          </a:prstGeom>
          <a:solidFill>
            <a:srgbClr val="2DE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30071" y="1874519"/>
            <a:ext cx="2395728" cy="1024128"/>
          </a:xfrm>
          <a:prstGeom prst="roundRect">
            <a:avLst>
              <a:gd name="adj" fmla="val 7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30071" y="1874519"/>
            <a:ext cx="45720" cy="1024128"/>
          </a:xfrm>
          <a:prstGeom prst="rect">
            <a:avLst/>
          </a:prstGeom>
          <a:solidFill>
            <a:srgbClr val="2DE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12951" y="1975104"/>
            <a:ext cx="2075688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DE1C2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2951" y="2432304"/>
            <a:ext cx="2075688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BB1C9"/>
                </a:solidFill>
                <a:latin typeface="Segoe UI"/>
              </a:rPr>
              <a:t>features, one simple 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8679" y="1874519"/>
            <a:ext cx="2395728" cy="1024128"/>
          </a:xfrm>
          <a:prstGeom prst="roundRect">
            <a:avLst>
              <a:gd name="adj" fmla="val 7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08679" y="1874519"/>
            <a:ext cx="45720" cy="1024128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91559" y="1975104"/>
            <a:ext cx="2075688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DDC97"/>
                </a:solidFill>
                <a:latin typeface="Segoe U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1559" y="2432304"/>
            <a:ext cx="2075688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BB1C9"/>
                </a:solidFill>
                <a:latin typeface="Segoe UI"/>
              </a:rPr>
              <a:t>passwords ever stored or sent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7287" y="1874519"/>
            <a:ext cx="2395728" cy="1024128"/>
          </a:xfrm>
          <a:prstGeom prst="roundRect">
            <a:avLst>
              <a:gd name="adj" fmla="val 7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87287" y="1874519"/>
            <a:ext cx="45720" cy="1024128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0167" y="1975104"/>
            <a:ext cx="2075688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B020"/>
                </a:solidFill>
                <a:latin typeface="Segoe UI"/>
              </a:rPr>
              <a:t>59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2432304"/>
            <a:ext cx="2075688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BB1C9"/>
                </a:solidFill>
                <a:latin typeface="Segoe UI"/>
              </a:rPr>
              <a:t>automated tests, all passing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5895" y="1874519"/>
            <a:ext cx="2395728" cy="1024128"/>
          </a:xfrm>
          <a:prstGeom prst="roundRect">
            <a:avLst>
              <a:gd name="adj" fmla="val 7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765895" y="1874519"/>
            <a:ext cx="45720" cy="1024128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48775" y="1975104"/>
            <a:ext cx="2075688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4DA3FF"/>
                </a:solidFill>
                <a:latin typeface="Segoe U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48775" y="2432304"/>
            <a:ext cx="2075688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BB1C9"/>
                </a:solidFill>
                <a:latin typeface="Segoe UI"/>
              </a:rPr>
              <a:t>layers of chatbot guardrail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127248"/>
            <a:ext cx="10058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Key takeaways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88920" y="3570732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2DE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44952" y="3474720"/>
            <a:ext cx="6327648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Segoe UI"/>
              </a:rPr>
              <a:t>Beginners need plain answers, not security jargon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88920" y="3918204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2DE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044952" y="3822192"/>
            <a:ext cx="6327648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Segoe UI"/>
              </a:rPr>
              <a:t>Heuristics + AI beat either one alone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88920" y="4265676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2DE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044952" y="4169664"/>
            <a:ext cx="6327648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Segoe UI"/>
              </a:rPr>
              <a:t>Privacy-first design is a feature, not a footnote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88920" y="4613148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2DE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044952" y="4517136"/>
            <a:ext cx="6327648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Segoe UI"/>
              </a:rPr>
              <a:t>Guardrails make an educational AI safe to ship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48840" y="4983480"/>
            <a:ext cx="7863840" cy="566928"/>
          </a:xfrm>
          <a:prstGeom prst="roundRect">
            <a:avLst>
              <a:gd name="adj" fmla="val 10000"/>
            </a:avLst>
          </a:prstGeom>
          <a:solidFill>
            <a:srgbClr val="142C47"/>
          </a:solidFill>
          <a:ln w="12700">
            <a:solidFill>
              <a:srgbClr val="2DE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377440" y="5102352"/>
            <a:ext cx="7406640" cy="2348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en-IN" sz="1200" b="1" dirty="0">
                <a:solidFill>
                  <a:srgbClr val="2DE1C2"/>
                </a:solidFill>
                <a:latin typeface="Consolas"/>
              </a:rPr>
              <a:t>https://github.com/Ayush-keshri-dev/cybersecurity-cheaker</a:t>
            </a:r>
            <a:endParaRPr sz="1200" b="1" i="0" dirty="0">
              <a:solidFill>
                <a:srgbClr val="2DE1C2"/>
              </a:solidFill>
              <a:latin typeface="Consola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22960" y="5715000"/>
            <a:ext cx="10515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BB1C9"/>
                </a:solidFill>
                <a:latin typeface="Segoe UI"/>
              </a:rPr>
              <a:t>Team ShieldAI  ·  Ayush Prasad Keshri  ·  Priyanshu Kumar Sah  ·  Vivekananda Global University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8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6592824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BB1C9"/>
                </a:solidFill>
                <a:latin typeface="Segoe UI"/>
              </a:rPr>
              <a:t>SkillUp Hackathon in collaboration with IBM SkillsBuild  ·  Built with IBM Bob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3817</Words>
  <Application>Microsoft Office PowerPoint</Application>
  <PresentationFormat>Widescreen</PresentationFormat>
  <Paragraphs>609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ayush keshri</cp:lastModifiedBy>
  <cp:revision>3</cp:revision>
  <dcterms:created xsi:type="dcterms:W3CDTF">2013-01-27T09:14:16Z</dcterms:created>
  <dcterms:modified xsi:type="dcterms:W3CDTF">2026-09-19T05:47:50Z</dcterms:modified>
  <cp:category/>
</cp:coreProperties>
</file>